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pic>
        <p:nvPicPr>
          <p:cNvPr id="2" name="Picture 1" descr="intuit-mark.png"/>
          <p:cNvPicPr>
            <a:picLocks noChangeAspect="1"/>
          </p:cNvPicPr>
          <p:nvPr/>
        </p:nvPicPr>
        <p:blipFill>
          <a:blip r:embed="rId2"/>
          <a:stretch>
            <a:fillRect/>
          </a:stretch>
        </p:blipFill>
        <p:spPr>
          <a:xfrm>
            <a:off x="850392" y="1234440"/>
            <a:ext cx="2077656" cy="457200"/>
          </a:xfrm>
          <a:prstGeom prst="rect">
            <a:avLst/>
          </a:prstGeom>
        </p:spPr>
      </p:pic>
      <p:sp>
        <p:nvSpPr>
          <p:cNvPr id="3" name="TextBox 2"/>
          <p:cNvSpPr txBox="1"/>
          <p:nvPr/>
        </p:nvSpPr>
        <p:spPr>
          <a:xfrm>
            <a:off x="822960" y="2103120"/>
            <a:ext cx="10789920" cy="2926080"/>
          </a:xfrm>
          <a:prstGeom prst="rect">
            <a:avLst/>
          </a:prstGeom>
          <a:noFill/>
        </p:spPr>
        <p:txBody>
          <a:bodyPr wrap="none">
            <a:spAutoFit/>
          </a:bodyPr>
          <a:lstStyle/>
          <a:p>
            <a:pPr>
              <a:spcAft>
                <a:spcPts val="600"/>
              </a:spcAft>
            </a:pPr>
            <a:r>
              <a:rPr sz="8800" b="1">
                <a:solidFill>
                  <a:srgbClr val="E8ECF4"/>
                </a:solidFill>
                <a:latin typeface="Inter"/>
              </a:rPr>
              <a:t>verdict-bench</a:t>
            </a:r>
          </a:p>
          <a:p>
            <a:pPr>
              <a:spcAft>
                <a:spcPts val="2600"/>
              </a:spcAft>
            </a:pPr>
            <a:r>
              <a:rPr sz="1300" b="0">
                <a:solidFill>
                  <a:srgbClr val="5C6678"/>
                </a:solidFill>
                <a:latin typeface="Inter"/>
              </a:rPr>
              <a:t>ACCOUNT-REVIEW DECISIONING PROMPT  ·  THE INTUIT CASE STUDY</a:t>
            </a:r>
          </a:p>
          <a:p>
            <a:pPr>
              <a:spcAft>
                <a:spcPts val="600"/>
              </a:spcAft>
            </a:pPr>
            <a:r>
              <a:rPr sz="1400" b="0">
                <a:solidFill>
                  <a:srgbClr val="8A93A3"/>
                </a:solidFill>
                <a:latin typeface="Inter"/>
              </a:rPr>
              <a:t>Shoval Benjer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WHO IS PRESENTING</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I run AI the way this benchmark runs prompts</a:t>
            </a:r>
          </a:p>
        </p:txBody>
      </p:sp>
      <p:sp>
        <p:nvSpPr>
          <p:cNvPr id="4" name="TextBox 3"/>
          <p:cNvSpPr txBox="1"/>
          <p:nvPr/>
        </p:nvSpPr>
        <p:spPr>
          <a:xfrm>
            <a:off x="822960" y="1691640"/>
            <a:ext cx="10515600" cy="1371600"/>
          </a:xfrm>
          <a:prstGeom prst="rect">
            <a:avLst/>
          </a:prstGeom>
          <a:noFill/>
        </p:spPr>
        <p:txBody>
          <a:bodyPr wrap="square">
            <a:spAutoFit/>
          </a:bodyPr>
          <a:lstStyle/>
          <a:p>
            <a:pPr>
              <a:spcAft>
                <a:spcPts val="600"/>
              </a:spcAft>
            </a:pPr>
            <a:r>
              <a:rPr sz="1300" b="0">
                <a:solidFill>
                  <a:srgbClr val="E8ECF4"/>
                </a:solidFill>
                <a:latin typeface="Inter"/>
              </a:rPr>
              <a:t>Shoval Benjer, B.Sc. Data Science (Afeka, 2022-2025). Before this: seven months at an online-trading company in Herzliya, owning the quality, accuracy, and reliability of AI agents on three production surfaces (a chatbot, voice agents, and social content). Built a sales-training platform on voice agents and a four-language transcription-and-analysis pipeline for sales and retention calls; implemented a hybrid test pyramid and quality gates, evals beside deterministic checks, that raised agent quality on the company's internal benchmarks and block regressions before they reach a customer; and a real-time productivity dashboard (SQL, Next.js) over the CRM with query optimization and cache layers.</a:t>
            </a:r>
          </a:p>
        </p:txBody>
      </p:sp>
      <p:sp>
        <p:nvSpPr>
          <p:cNvPr id="5" name="Rounded Rectangle 4"/>
          <p:cNvSpPr/>
          <p:nvPr/>
        </p:nvSpPr>
        <p:spPr>
          <a:xfrm>
            <a:off x="822960" y="3291840"/>
            <a:ext cx="1920240" cy="914400"/>
          </a:xfrm>
          <a:prstGeom prst="roundRect">
            <a:avLst/>
          </a:prstGeom>
          <a:solidFill>
            <a:srgbClr val="111420"/>
          </a:solidFill>
          <a:ln w="15240">
            <a:solidFill>
              <a:srgbClr val="828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operator</a:t>
            </a:r>
          </a:p>
          <a:p>
            <a:pPr>
              <a:spcAft>
                <a:spcPts val="0"/>
              </a:spcAft>
            </a:pPr>
            <a:r>
              <a:rPr sz="1000" b="0">
                <a:solidFill>
                  <a:srgbClr val="8A93A3"/>
                </a:solidFill>
                <a:latin typeface="Inter"/>
              </a:rPr>
              <a:t>frames the question</a:t>
            </a:r>
          </a:p>
        </p:txBody>
      </p:sp>
      <p:sp>
        <p:nvSpPr>
          <p:cNvPr id="6" name="Rounded Rectangle 5"/>
          <p:cNvSpPr/>
          <p:nvPr/>
        </p:nvSpPr>
        <p:spPr>
          <a:xfrm>
            <a:off x="3200400" y="3291840"/>
            <a:ext cx="2103120" cy="91440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rules + claim controls</a:t>
            </a:r>
          </a:p>
          <a:p>
            <a:pPr>
              <a:spcAft>
                <a:spcPts val="0"/>
              </a:spcAft>
            </a:pPr>
            <a:r>
              <a:rPr sz="1000" b="0">
                <a:solidFill>
                  <a:srgbClr val="8A93A3"/>
                </a:solidFill>
                <a:latin typeface="Inter"/>
              </a:rPr>
              <a:t>what may be asserted</a:t>
            </a:r>
          </a:p>
        </p:txBody>
      </p:sp>
      <p:sp>
        <p:nvSpPr>
          <p:cNvPr id="7" name="Rounded Rectangle 6"/>
          <p:cNvSpPr/>
          <p:nvPr/>
        </p:nvSpPr>
        <p:spPr>
          <a:xfrm>
            <a:off x="5760720" y="3291840"/>
            <a:ext cx="1920240" cy="91440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agents run</a:t>
            </a:r>
          </a:p>
          <a:p>
            <a:pPr>
              <a:spcAft>
                <a:spcPts val="0"/>
              </a:spcAft>
            </a:pPr>
            <a:r>
              <a:rPr sz="1000" b="0">
                <a:solidFill>
                  <a:srgbClr val="8A93A3"/>
                </a:solidFill>
                <a:latin typeface="Inter"/>
              </a:rPr>
              <a:t>every run recorded</a:t>
            </a:r>
          </a:p>
        </p:txBody>
      </p:sp>
      <p:sp>
        <p:nvSpPr>
          <p:cNvPr id="8" name="Rounded Rectangle 7"/>
          <p:cNvSpPr/>
          <p:nvPr/>
        </p:nvSpPr>
        <p:spPr>
          <a:xfrm>
            <a:off x="8138160" y="3291840"/>
            <a:ext cx="2194560" cy="914400"/>
          </a:xfrm>
          <a:prstGeom prst="roundRect">
            <a:avLst/>
          </a:prstGeom>
          <a:solidFill>
            <a:srgbClr val="111420"/>
          </a:solidFill>
          <a:ln w="15240">
            <a:solidFill>
              <a:srgbClr val="CFA3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evidence ledger</a:t>
            </a:r>
          </a:p>
          <a:p>
            <a:pPr>
              <a:spcAft>
                <a:spcPts val="0"/>
              </a:spcAft>
            </a:pPr>
            <a:r>
              <a:rPr sz="1000" b="0">
                <a:solidFill>
                  <a:srgbClr val="8A93A3"/>
                </a:solidFill>
                <a:latin typeface="Inter"/>
              </a:rPr>
              <a:t>sqlite + jsonl, append-only</a:t>
            </a:r>
          </a:p>
        </p:txBody>
      </p:sp>
      <p:sp>
        <p:nvSpPr>
          <p:cNvPr id="9" name="Rounded Rectangle 8"/>
          <p:cNvSpPr/>
          <p:nvPr/>
        </p:nvSpPr>
        <p:spPr>
          <a:xfrm>
            <a:off x="4846320" y="4663440"/>
            <a:ext cx="2468880" cy="868680"/>
          </a:xfrm>
          <a:prstGeom prst="roundRect">
            <a:avLst/>
          </a:prstGeom>
          <a:solidFill>
            <a:srgbClr val="111420"/>
          </a:solidFill>
          <a:ln w="1524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gates decide</a:t>
            </a:r>
          </a:p>
          <a:p>
            <a:pPr>
              <a:spcAft>
                <a:spcPts val="0"/>
              </a:spcAft>
            </a:pPr>
            <a:r>
              <a:rPr sz="1000" b="0">
                <a:solidFill>
                  <a:srgbClr val="8A93A3"/>
                </a:solidFill>
                <a:latin typeface="Inter"/>
              </a:rPr>
              <a:t>green ships, red blocks</a:t>
            </a:r>
          </a:p>
        </p:txBody>
      </p:sp>
      <p:cxnSp>
        <p:nvCxnSpPr>
          <p:cNvPr id="10" name="Connector 9"/>
          <p:cNvCxnSpPr/>
          <p:nvPr/>
        </p:nvCxnSpPr>
        <p:spPr>
          <a:xfrm>
            <a:off x="2743200" y="3749039"/>
            <a:ext cx="457200" cy="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303520" y="3749039"/>
            <a:ext cx="457200" cy="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80960" y="3749039"/>
            <a:ext cx="457200" cy="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315200" y="4206240"/>
            <a:ext cx="1920240" cy="68580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783080" y="4206240"/>
            <a:ext cx="3063240" cy="86868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806440"/>
            <a:ext cx="10515600" cy="914400"/>
          </a:xfrm>
          <a:prstGeom prst="rect">
            <a:avLst/>
          </a:prstGeom>
          <a:noFill/>
        </p:spPr>
        <p:txBody>
          <a:bodyPr wrap="square">
            <a:spAutoFit/>
          </a:bodyPr>
          <a:lstStyle/>
          <a:p>
            <a:pPr>
              <a:spcAft>
                <a:spcPts val="600"/>
              </a:spcAft>
            </a:pPr>
            <a:r>
              <a:rPr sz="1300" b="0">
                <a:solidFill>
                  <a:srgbClr val="8A93A3"/>
                </a:solidFill>
                <a:latin typeface="Inter"/>
              </a:rPr>
              <a:t>My standing setup runs on this loop: rules say what may be claimed, every run lands in a ledger, and gates decide what ships. verdict-bench is the same loop pointed at one prompt.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THE STUDY IN THREE FINDINGS</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What the ledger showed</a:t>
            </a:r>
          </a:p>
        </p:txBody>
      </p:sp>
      <p:sp>
        <p:nvSpPr>
          <p:cNvPr id="4" name="TextBox 3"/>
          <p:cNvSpPr txBox="1"/>
          <p:nvPr/>
        </p:nvSpPr>
        <p:spPr>
          <a:xfrm>
            <a:off x="822960" y="2011680"/>
            <a:ext cx="10424160" cy="3840480"/>
          </a:xfrm>
          <a:prstGeom prst="rect">
            <a:avLst/>
          </a:prstGeom>
          <a:noFill/>
        </p:spPr>
        <p:txBody>
          <a:bodyPr wrap="square">
            <a:spAutoFit/>
          </a:bodyPr>
          <a:lstStyle/>
          <a:p>
            <a:pPr>
              <a:spcAft>
                <a:spcPts val="1800"/>
              </a:spcAft>
            </a:pPr>
            <a:r>
              <a:rPr sz="1700" b="1">
                <a:solidFill>
                  <a:srgbClr val="E8ECF4"/>
                </a:solidFill>
                <a:latin typeface="Inter"/>
              </a:rPr>
              <a:t>The gate rejected my best fix. </a:t>
            </a:r>
            <a:r>
              <a:rPr sz="1700">
                <a:solidFill>
                  <a:srgbClr val="8A93A3"/>
                </a:solidFill>
                <a:latin typeface="Inter"/>
              </a:rPr>
              <a:t>v6 resisted 19 of 20 planted-instruction attacks, then missed the 12-of-12 decision bar it had pre-registered. It stays rejected.</a:t>
            </a:r>
          </a:p>
          <a:p>
            <a:pPr>
              <a:spcAft>
                <a:spcPts val="1800"/>
              </a:spcAft>
            </a:pPr>
            <a:r>
              <a:rPr sz="1700" b="1">
                <a:solidFill>
                  <a:srgbClr val="E8ECF4"/>
                </a:solidFill>
                <a:latin typeface="Inter"/>
              </a:rPr>
              <a:t>Generated cases separate models the visible nine cannot. </a:t>
            </a:r>
            <a:r>
              <a:rPr sz="1700">
                <a:solidFill>
                  <a:srgbClr val="8A93A3"/>
                </a:solidFill>
                <a:latin typeface="Inter"/>
              </a:rPr>
              <a:t>on 64 unseen cases the same prompt scores 100% on two models and 58% on the weakest.</a:t>
            </a:r>
          </a:p>
          <a:p>
            <a:pPr>
              <a:spcAft>
                <a:spcPts val="1800"/>
              </a:spcAft>
            </a:pPr>
            <a:r>
              <a:rPr sz="1700" b="1">
                <a:solidFill>
                  <a:srgbClr val="E8ECF4"/>
                </a:solidFill>
                <a:latin typeface="Inter"/>
              </a:rPr>
              <a:t>Contested cases are routed, not scored. </a:t>
            </a:r>
            <a:r>
              <a:rPr sz="1700">
                <a:solidFill>
                  <a:srgbClr val="8A93A3"/>
                </a:solidFill>
                <a:latin typeface="Inter"/>
              </a:rPr>
              <a:t>where the policy text underdetermines the answer, no model is graded and the case goes to a human with the cross-model split attached.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PROBLEM</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Accuracy is the wrong headline</a:t>
            </a:r>
          </a:p>
        </p:txBody>
      </p:sp>
      <p:sp>
        <p:nvSpPr>
          <p:cNvPr id="4" name="TextBox 3"/>
          <p:cNvSpPr txBox="1"/>
          <p:nvPr/>
        </p:nvSpPr>
        <p:spPr>
          <a:xfrm>
            <a:off x="822960" y="2194560"/>
            <a:ext cx="3566160" cy="2011680"/>
          </a:xfrm>
          <a:prstGeom prst="rect">
            <a:avLst/>
          </a:prstGeom>
          <a:noFill/>
        </p:spPr>
        <p:txBody>
          <a:bodyPr wrap="none">
            <a:spAutoFit/>
          </a:bodyPr>
          <a:lstStyle/>
          <a:p>
            <a:pPr>
              <a:spcAft>
                <a:spcPts val="600"/>
              </a:spcAft>
            </a:pPr>
            <a:r>
              <a:rPr sz="5800" b="1">
                <a:solidFill>
                  <a:srgbClr val="E8ECF4"/>
                </a:solidFill>
                <a:latin typeface="Inter"/>
              </a:rPr>
              <a:t>92%</a:t>
            </a:r>
          </a:p>
          <a:p>
            <a:pPr>
              <a:spcAft>
                <a:spcPts val="600"/>
              </a:spcAft>
            </a:pPr>
            <a:r>
              <a:rPr sz="1100" b="0">
                <a:solidFill>
                  <a:srgbClr val="5C6678"/>
                </a:solidFill>
                <a:latin typeface="Inter"/>
              </a:rPr>
              <a:t>THE NO-POLICY BASELINE'S SUITE ACCURACY</a:t>
            </a:r>
          </a:p>
        </p:txBody>
      </p:sp>
      <p:sp>
        <p:nvSpPr>
          <p:cNvPr id="5" name="TextBox 4"/>
          <p:cNvSpPr txBox="1"/>
          <p:nvPr/>
        </p:nvSpPr>
        <p:spPr>
          <a:xfrm>
            <a:off x="4572000" y="2194560"/>
            <a:ext cx="3566160" cy="2011680"/>
          </a:xfrm>
          <a:prstGeom prst="rect">
            <a:avLst/>
          </a:prstGeom>
          <a:noFill/>
        </p:spPr>
        <p:txBody>
          <a:bodyPr wrap="none">
            <a:spAutoFit/>
          </a:bodyPr>
          <a:lstStyle/>
          <a:p>
            <a:pPr>
              <a:spcAft>
                <a:spcPts val="600"/>
              </a:spcAft>
            </a:pPr>
            <a:r>
              <a:rPr sz="5800" b="1">
                <a:solidFill>
                  <a:srgbClr val="E8ECF4"/>
                </a:solidFill>
                <a:latin typeface="Inter"/>
              </a:rPr>
              <a:t>44x</a:t>
            </a:r>
          </a:p>
          <a:p>
            <a:pPr>
              <a:spcAft>
                <a:spcPts val="600"/>
              </a:spcAft>
            </a:pPr>
            <a:r>
              <a:rPr sz="1100" b="0">
                <a:solidFill>
                  <a:srgbClr val="5C6678"/>
                </a:solidFill>
                <a:latin typeface="Inter"/>
              </a:rPr>
              <a:t>COST SPREAD ACROSS ERROR TYPES ($45 TO $2,000)</a:t>
            </a:r>
          </a:p>
        </p:txBody>
      </p:sp>
      <p:sp>
        <p:nvSpPr>
          <p:cNvPr id="6" name="TextBox 5"/>
          <p:cNvSpPr txBox="1"/>
          <p:nvPr/>
        </p:nvSpPr>
        <p:spPr>
          <a:xfrm>
            <a:off x="8321040" y="2194560"/>
            <a:ext cx="3566160" cy="2011680"/>
          </a:xfrm>
          <a:prstGeom prst="rect">
            <a:avLst/>
          </a:prstGeom>
          <a:noFill/>
        </p:spPr>
        <p:txBody>
          <a:bodyPr wrap="none">
            <a:spAutoFit/>
          </a:bodyPr>
          <a:lstStyle/>
          <a:p>
            <a:pPr>
              <a:spcAft>
                <a:spcPts val="600"/>
              </a:spcAft>
            </a:pPr>
            <a:r>
              <a:rPr sz="5800" b="1">
                <a:solidFill>
                  <a:srgbClr val="CFA36C"/>
                </a:solidFill>
                <a:latin typeface="Inter"/>
              </a:rPr>
              <a:t>1</a:t>
            </a:r>
          </a:p>
          <a:p>
            <a:pPr>
              <a:spcAft>
                <a:spcPts val="600"/>
              </a:spcAft>
            </a:pPr>
            <a:r>
              <a:rPr sz="1100" b="0">
                <a:solidFill>
                  <a:srgbClr val="5C6678"/>
                </a:solidFill>
                <a:latin typeface="Inter"/>
              </a:rPr>
              <a:t>SANCTIONS MISS DISQUALIFIES, REGARDLESS OF THE REST</a:t>
            </a:r>
          </a:p>
        </p:txBody>
      </p:sp>
      <p:sp>
        <p:nvSpPr>
          <p:cNvPr id="7" name="TextBox 6"/>
          <p:cNvSpPr txBox="1"/>
          <p:nvPr/>
        </p:nvSpPr>
        <p:spPr>
          <a:xfrm>
            <a:off x="822960" y="5120640"/>
            <a:ext cx="10515600" cy="914400"/>
          </a:xfrm>
          <a:prstGeom prst="rect">
            <a:avLst/>
          </a:prstGeom>
          <a:noFill/>
        </p:spPr>
        <p:txBody>
          <a:bodyPr wrap="square">
            <a:spAutoFit/>
          </a:bodyPr>
          <a:lstStyle/>
          <a:p>
            <a:pPr>
              <a:spcAft>
                <a:spcPts val="600"/>
              </a:spcAft>
            </a:pPr>
            <a:r>
              <a:rPr sz="1300" b="0">
                <a:solidFill>
                  <a:srgbClr val="8A93A3"/>
                </a:solidFill>
                <a:latin typeface="Inter"/>
              </a:rPr>
              <a:t>Bottom line: the question is decision quality, not model quality. Which prompt-model pair do we trust, at what dollar loss, under which assumptions.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SCOPE, OWNED UPFRONT</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The two-hour version exists inside this one</a:t>
            </a:r>
          </a:p>
        </p:txBody>
      </p:sp>
      <p:sp>
        <p:nvSpPr>
          <p:cNvPr id="4" name="TextBox 3"/>
          <p:cNvSpPr txBox="1"/>
          <p:nvPr/>
        </p:nvSpPr>
        <p:spPr>
          <a:xfrm>
            <a:off x="822960" y="2103120"/>
            <a:ext cx="10058400" cy="2011680"/>
          </a:xfrm>
          <a:prstGeom prst="rect">
            <a:avLst/>
          </a:prstGeom>
          <a:noFill/>
        </p:spPr>
        <p:txBody>
          <a:bodyPr wrap="square">
            <a:spAutoFit/>
          </a:bodyPr>
          <a:lstStyle/>
          <a:p>
            <a:pPr>
              <a:spcAft>
                <a:spcPts val="600"/>
              </a:spcAft>
            </a:pPr>
            <a:r>
              <a:rPr sz="1700" b="0">
                <a:solidFill>
                  <a:srgbClr val="E8ECF4"/>
                </a:solidFill>
                <a:latin typeface="Inter"/>
              </a:rPr>
              <a:t>Just to be clear, the two-hour version exists and I can point at it: the policy-teaching prompt plus the sanctions rule, 12x2 runs, three stated costs, one page. That is rungs v3 and v4 of my own ladder, and they carry most of the decision quality. The rest of the time went on the one question the short version cannot answer: how do I know when to trust it.</a:t>
            </a:r>
          </a:p>
        </p:txBody>
      </p:sp>
      <p:sp>
        <p:nvSpPr>
          <p:cNvPr id="5" name="TextBox 4"/>
          <p:cNvSpPr txBox="1"/>
          <p:nvPr/>
        </p:nvSpPr>
        <p:spPr>
          <a:xfrm>
            <a:off x="822960" y="4754880"/>
            <a:ext cx="10515600" cy="914400"/>
          </a:xfrm>
          <a:prstGeom prst="rect">
            <a:avLst/>
          </a:prstGeom>
          <a:noFill/>
        </p:spPr>
        <p:txBody>
          <a:bodyPr wrap="square">
            <a:spAutoFit/>
          </a:bodyPr>
          <a:lstStyle/>
          <a:p>
            <a:pPr>
              <a:spcAft>
                <a:spcPts val="600"/>
              </a:spcAft>
            </a:pPr>
            <a:r>
              <a:rPr sz="1300" b="0">
                <a:solidFill>
                  <a:srgbClr val="CFA36C"/>
                </a:solidFill>
                <a:latin typeface="Inter"/>
              </a:rPr>
              <a:t>"The prompt took two hours. Knowing whether to trust it took the week, and the week is the part I would bring to the job."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MEASURED, BANKED, AND ON NO OTHER SLIDE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The work the deck does not show</a:t>
            </a:r>
          </a:p>
        </p:txBody>
      </p:sp>
      <p:sp>
        <p:nvSpPr>
          <p:cNvPr id="4" name="TextBox 3"/>
          <p:cNvSpPr txBox="1"/>
          <p:nvPr/>
        </p:nvSpPr>
        <p:spPr>
          <a:xfrm>
            <a:off x="822960" y="1828800"/>
            <a:ext cx="10424160" cy="4389120"/>
          </a:xfrm>
          <a:prstGeom prst="rect">
            <a:avLst/>
          </a:prstGeom>
          <a:noFill/>
        </p:spPr>
        <p:txBody>
          <a:bodyPr wrap="square">
            <a:spAutoFit/>
          </a:bodyPr>
          <a:lstStyle/>
          <a:p>
            <a:pPr>
              <a:spcAft>
                <a:spcPts val="900"/>
              </a:spcAft>
            </a:pPr>
            <a:r>
              <a:rPr sz="1300" b="1">
                <a:solidFill>
                  <a:srgbClr val="E8ECF4"/>
                </a:solidFill>
                <a:latin typeface="Inter"/>
              </a:rPr>
              <a:t>Classical baseline: </a:t>
            </a:r>
            <a:r>
              <a:rPr sz="1300">
                <a:solidFill>
                  <a:srgbClr val="8A93A3"/>
                </a:solidFill>
                <a:latin typeface="Inter"/>
              </a:rPr>
              <a:t>hand-featured logistic regression, leave-one-out 8/12 vs the LLM's 11-12/12; all four LR misses are policy-reasoning cases in the expensive direction.</a:t>
            </a:r>
          </a:p>
          <a:p>
            <a:pPr>
              <a:spcAft>
                <a:spcPts val="900"/>
              </a:spcAft>
            </a:pPr>
            <a:r>
              <a:rPr sz="1300" b="1">
                <a:solidFill>
                  <a:srgbClr val="E8ECF4"/>
                </a:solidFill>
                <a:latin typeface="Inter"/>
              </a:rPr>
              <a:t>DSPy contrast arm: </a:t>
            </a:r>
            <a:r>
              <a:rPr sz="1300">
                <a:solidFill>
                  <a:srgbClr val="8A93A3"/>
                </a:solidFill>
                <a:latin typeface="Inter"/>
              </a:rPr>
              <a:t>a compiled prompt hits the same 12/12 ceiling with a structurally different artifact; kept as a comparison, not a rung.</a:t>
            </a:r>
          </a:p>
          <a:p>
            <a:pPr>
              <a:spcAft>
                <a:spcPts val="900"/>
              </a:spcAft>
            </a:pPr>
            <a:r>
              <a:rPr sz="1300" b="1">
                <a:solidFill>
                  <a:srgbClr val="E8ECF4"/>
                </a:solidFill>
                <a:latin typeface="Inter"/>
              </a:rPr>
              <a:t>Self-consistency: </a:t>
            </a:r>
            <a:r>
              <a:rPr sz="1300">
                <a:solidFill>
                  <a:srgbClr val="8A93A3"/>
                </a:solidFill>
                <a:latin typeface="Inter"/>
              </a:rPr>
              <a:t>11 of 12 cases unanimous over N=5 temperature-raised repeats; vote fraction is the earned-confidence instrument.</a:t>
            </a:r>
          </a:p>
          <a:p>
            <a:pPr>
              <a:spcAft>
                <a:spcPts val="900"/>
              </a:spcAft>
            </a:pPr>
            <a:r>
              <a:rPr sz="1300" b="1">
                <a:solidFill>
                  <a:srgbClr val="E8ECF4"/>
                </a:solidFill>
                <a:latin typeface="Inter"/>
              </a:rPr>
              <a:t>Sequential test: </a:t>
            </a:r>
            <a:r>
              <a:rPr sz="1300">
                <a:solidFill>
                  <a:srgbClr val="8A93A3"/>
                </a:solidFill>
                <a:latin typeface="Inter"/>
              </a:rPr>
              <a:t>SPRT (p0=0.75, p1=0.92, alpha=0.05, beta=0.10) states how many more labeled cases certification needs.</a:t>
            </a:r>
          </a:p>
          <a:p>
            <a:pPr>
              <a:spcAft>
                <a:spcPts val="900"/>
              </a:spcAft>
            </a:pPr>
            <a:r>
              <a:rPr sz="1300" b="1">
                <a:solidFill>
                  <a:srgbClr val="E8ECF4"/>
                </a:solidFill>
                <a:latin typeface="Inter"/>
              </a:rPr>
              <a:t>Posterior odds: </a:t>
            </a:r>
            <a:r>
              <a:rPr sz="1300">
                <a:solidFill>
                  <a:srgbClr val="8A93A3"/>
                </a:solidFill>
                <a:latin typeface="Inter"/>
              </a:rPr>
              <a:t>beta-binomial puts the ladder's edge over v1 at ~3:1, reported as odds, not certainty.</a:t>
            </a:r>
          </a:p>
          <a:p>
            <a:pPr>
              <a:spcAft>
                <a:spcPts val="900"/>
              </a:spcAft>
            </a:pPr>
            <a:r>
              <a:rPr sz="1300" b="1">
                <a:solidFill>
                  <a:srgbClr val="E8ECF4"/>
                </a:solidFill>
                <a:latin typeface="Inter"/>
              </a:rPr>
              <a:t>Provenance: </a:t>
            </a:r>
            <a:r>
              <a:rPr sz="1300">
                <a:solidFill>
                  <a:srgbClr val="8A93A3"/>
                </a:solidFill>
                <a:latin typeface="Inter"/>
              </a:rPr>
              <a:t>PaySim and ULB licenses verified at source; IEEE-CIS marked honestly unverifiable; fetch scripts print the exact manual steps.</a:t>
            </a:r>
          </a:p>
          <a:p>
            <a:pPr>
              <a:spcAft>
                <a:spcPts val="900"/>
              </a:spcAft>
            </a:pPr>
            <a:r>
              <a:rPr sz="1300" b="1">
                <a:solidFill>
                  <a:srgbClr val="E8ECF4"/>
                </a:solidFill>
                <a:latin typeface="Inter"/>
              </a:rPr>
              <a:t>Surfaces: </a:t>
            </a:r>
            <a:r>
              <a:rPr sz="1300">
                <a:solidFill>
                  <a:srgbClr val="8A93A3"/>
                </a:solidFill>
                <a:latin typeface="Inter"/>
              </a:rPr>
              <a:t>a Tauri desktop shell, the adjudication-queue playground, and a number-grounding audit: 81-98% of v5's cited numbers trace to the case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PLAN</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Six commitments, fixed before any analysis</a:t>
            </a:r>
          </a:p>
        </p:txBody>
      </p:sp>
      <p:sp>
        <p:nvSpPr>
          <p:cNvPr id="4" name="TextBox 3"/>
          <p:cNvSpPr txBox="1"/>
          <p:nvPr/>
        </p:nvSpPr>
        <p:spPr>
          <a:xfrm>
            <a:off x="822960" y="2011680"/>
            <a:ext cx="10424160" cy="4206240"/>
          </a:xfrm>
          <a:prstGeom prst="rect">
            <a:avLst/>
          </a:prstGeom>
          <a:noFill/>
        </p:spPr>
        <p:txBody>
          <a:bodyPr wrap="square">
            <a:spAutoFit/>
          </a:bodyPr>
          <a:lstStyle/>
          <a:p>
            <a:pPr>
              <a:spcAft>
                <a:spcPts val="1200"/>
              </a:spcAft>
            </a:pPr>
            <a:r>
              <a:rPr sz="1600" b="1">
                <a:solidFill>
                  <a:srgbClr val="E8ECF4"/>
                </a:solidFill>
                <a:latin typeface="Inter"/>
              </a:rPr>
              <a:t>1.  Suite separation. </a:t>
            </a:r>
            <a:r>
              <a:rPr sz="1600">
                <a:solidFill>
                  <a:srgbClr val="8A93A3"/>
                </a:solidFill>
                <a:latin typeface="Inter"/>
              </a:rPr>
              <a:t>robustness kinds never blend into accuracy or loss.</a:t>
            </a:r>
          </a:p>
          <a:p>
            <a:pPr>
              <a:spcAft>
                <a:spcPts val="1200"/>
              </a:spcAft>
            </a:pPr>
            <a:r>
              <a:rPr sz="1600" b="1">
                <a:solidFill>
                  <a:srgbClr val="E8ECF4"/>
                </a:solidFill>
                <a:latin typeface="Inter"/>
              </a:rPr>
              <a:t>2.  One change per rung, </a:t>
            </a:r>
            <a:r>
              <a:rPr sz="1600">
                <a:solidFill>
                  <a:srgbClr val="8A93A3"/>
                </a:solidFill>
                <a:latin typeface="Inter"/>
              </a:rPr>
              <a:t>machine-diffed, every run pinned by content hash.</a:t>
            </a:r>
          </a:p>
          <a:p>
            <a:pPr>
              <a:spcAft>
                <a:spcPts val="1200"/>
              </a:spcAft>
            </a:pPr>
            <a:r>
              <a:rPr sz="1600" b="1">
                <a:solidFill>
                  <a:srgbClr val="E8ECF4"/>
                </a:solidFill>
                <a:latin typeface="Inter"/>
              </a:rPr>
              <a:t>3.  Repeats before belief. </a:t>
            </a:r>
            <a:r>
              <a:rPr sz="1600">
                <a:solidFill>
                  <a:srgbClr val="8A93A3"/>
                </a:solidFill>
                <a:latin typeface="Inter"/>
              </a:rPr>
              <a:t>N=5 before a single-run claim is trusted.</a:t>
            </a:r>
          </a:p>
          <a:p>
            <a:pPr>
              <a:spcAft>
                <a:spcPts val="1200"/>
              </a:spcAft>
            </a:pPr>
            <a:r>
              <a:rPr sz="1600" b="1">
                <a:solidFill>
                  <a:srgbClr val="E8ECF4"/>
                </a:solidFill>
                <a:latin typeface="Inter"/>
              </a:rPr>
              <a:t>4.  Trust gates over headlines: </a:t>
            </a:r>
            <a:r>
              <a:rPr sz="1600">
                <a:solidFill>
                  <a:srgbClr val="8A93A3"/>
                </a:solidFill>
                <a:latin typeface="Inter"/>
              </a:rPr>
              <a:t>n, contract, CI width, flip, zero-tolerance tripwire.</a:t>
            </a:r>
          </a:p>
          <a:p>
            <a:pPr>
              <a:spcAft>
                <a:spcPts val="1200"/>
              </a:spcAft>
            </a:pPr>
            <a:r>
              <a:rPr sz="1600" b="1">
                <a:solidFill>
                  <a:srgbClr val="E8ECF4"/>
                </a:solidFill>
                <a:latin typeface="Inter"/>
              </a:rPr>
              <a:t>5.  Dollar OEC: </a:t>
            </a:r>
            <a:r>
              <a:rPr sz="1600">
                <a:solidFill>
                  <a:srgbClr val="8A93A3"/>
                </a:solidFill>
                <a:latin typeface="Inter"/>
              </a:rPr>
              <a:t>three stated costs + one derived, swept, bootstrapped, reweighted.</a:t>
            </a:r>
          </a:p>
          <a:p>
            <a:pPr>
              <a:spcAft>
                <a:spcPts val="1200"/>
              </a:spcAft>
            </a:pPr>
            <a:r>
              <a:rPr sz="1600" b="1">
                <a:solidFill>
                  <a:srgbClr val="E8ECF4"/>
                </a:solidFill>
                <a:latin typeface="Inter"/>
              </a:rPr>
              <a:t>6.  Label tiers visible: </a:t>
            </a:r>
            <a:r>
              <a:rPr sz="1600">
                <a:solidFill>
                  <a:srgbClr val="8A93A3"/>
                </a:solidFill>
                <a:latin typeface="Inter"/>
              </a:rPr>
              <a:t>4 expert / 5 adjudicated / constructed, never averaged.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PLAN · THE PRICE OF A MISTAKE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How a mistake is priced</a:t>
            </a:r>
          </a:p>
        </p:txBody>
      </p:sp>
      <p:graphicFrame>
        <p:nvGraphicFramePr>
          <p:cNvPr id="4" name="Table 3"/>
          <p:cNvGraphicFramePr>
            <a:graphicFrameLocks noGrp="1"/>
          </p:cNvGraphicFramePr>
          <p:nvPr/>
        </p:nvGraphicFramePr>
        <p:xfrm>
          <a:off x="822960" y="1920240"/>
          <a:ext cx="5120640" cy="2194560"/>
        </p:xfrm>
        <a:graphic>
          <a:graphicData uri="http://schemas.openxmlformats.org/drawingml/2006/table">
            <a:tbl>
              <a:tblPr firstRow="1" bandRow="1">
                <a:tableStyleId>{5C22544A-7EE6-4342-B048-85BDC9FD1C3A}</a:tableStyleId>
              </a:tblPr>
              <a:tblGrid>
                <a:gridCol w="1280160"/>
                <a:gridCol w="1280160"/>
                <a:gridCol w="1280160"/>
                <a:gridCol w="1280160"/>
              </a:tblGrid>
              <a:tr h="548640">
                <a:tc>
                  <a:txBody>
                    <a:bodyPr/>
                    <a:lstStyle/>
                    <a:p>
                      <a:pPr>
                        <a:spcAft>
                          <a:spcPts val="0"/>
                        </a:spcAft>
                      </a:pPr>
                      <a:r>
                        <a:rPr sz="1200" b="1">
                          <a:solidFill>
                            <a:srgbClr val="5C6678"/>
                          </a:solidFill>
                          <a:latin typeface="Inter"/>
                        </a:rPr>
                        <a:t/>
                      </a:r>
                    </a:p>
                  </a:txBody>
                  <a:tcPr>
                    <a:solidFill>
                      <a:srgbClr val="111420"/>
                    </a:solidFill>
                  </a:tcPr>
                </a:tc>
                <a:tc>
                  <a:txBody>
                    <a:bodyPr/>
                    <a:lstStyle/>
                    <a:p>
                      <a:pPr>
                        <a:spcAft>
                          <a:spcPts val="0"/>
                        </a:spcAft>
                      </a:pPr>
                      <a:r>
                        <a:rPr sz="1200" b="1">
                          <a:solidFill>
                            <a:srgbClr val="5C6678"/>
                          </a:solidFill>
                          <a:latin typeface="Inter"/>
                        </a:rPr>
                        <a:t>-&gt; APPROVE</a:t>
                      </a:r>
                    </a:p>
                  </a:txBody>
                  <a:tcPr>
                    <a:solidFill>
                      <a:srgbClr val="111420"/>
                    </a:solidFill>
                  </a:tcPr>
                </a:tc>
                <a:tc>
                  <a:txBody>
                    <a:bodyPr/>
                    <a:lstStyle/>
                    <a:p>
                      <a:pPr>
                        <a:spcAft>
                          <a:spcPts val="0"/>
                        </a:spcAft>
                      </a:pPr>
                      <a:r>
                        <a:rPr sz="1200" b="1">
                          <a:solidFill>
                            <a:srgbClr val="5C6678"/>
                          </a:solidFill>
                          <a:latin typeface="Inter"/>
                        </a:rPr>
                        <a:t>-&gt; HOLD</a:t>
                      </a:r>
                    </a:p>
                  </a:txBody>
                  <a:tcPr>
                    <a:solidFill>
                      <a:srgbClr val="111420"/>
                    </a:solidFill>
                  </a:tcPr>
                </a:tc>
                <a:tc>
                  <a:txBody>
                    <a:bodyPr/>
                    <a:lstStyle/>
                    <a:p>
                      <a:pPr>
                        <a:spcAft>
                          <a:spcPts val="0"/>
                        </a:spcAft>
                      </a:pPr>
                      <a:r>
                        <a:rPr sz="1200" b="1">
                          <a:solidFill>
                            <a:srgbClr val="5C6678"/>
                          </a:solidFill>
                          <a:latin typeface="Inter"/>
                        </a:rPr>
                        <a:t>-&gt; REJECT</a:t>
                      </a:r>
                    </a:p>
                  </a:txBody>
                  <a:tcPr>
                    <a:solidFill>
                      <a:srgbClr val="111420"/>
                    </a:solidFill>
                  </a:tcPr>
                </a:tc>
              </a:tr>
              <a:tr h="548640">
                <a:tc>
                  <a:txBody>
                    <a:bodyPr/>
                    <a:lstStyle/>
                    <a:p>
                      <a:pPr>
                        <a:spcAft>
                          <a:spcPts val="0"/>
                        </a:spcAft>
                      </a:pPr>
                      <a:r>
                        <a:rPr sz="1200" b="1">
                          <a:solidFill>
                            <a:srgbClr val="5C6678"/>
                          </a:solidFill>
                          <a:latin typeface="Inter"/>
                        </a:rPr>
                        <a:t>truth APPROVE</a:t>
                      </a:r>
                    </a:p>
                  </a:txBody>
                  <a:tcPr>
                    <a:solidFill>
                      <a:srgbClr val="111420"/>
                    </a:solidFill>
                  </a:tcPr>
                </a:tc>
                <a:tc>
                  <a:txBody>
                    <a:bodyPr/>
                    <a:lstStyle/>
                    <a:p>
                      <a:pPr>
                        <a:spcAft>
                          <a:spcPts val="0"/>
                        </a:spcAft>
                      </a:pPr>
                      <a:r>
                        <a:rPr sz="1200" b="0">
                          <a:solidFill>
                            <a:srgbClr val="E8ECF4"/>
                          </a:solidFill>
                          <a:latin typeface="Inter"/>
                        </a:rPr>
                        <a:t>$0</a:t>
                      </a:r>
                    </a:p>
                  </a:txBody>
                  <a:tcPr>
                    <a:solidFill>
                      <a:srgbClr val="111420"/>
                    </a:solidFill>
                  </a:tcPr>
                </a:tc>
                <a:tc>
                  <a:txBody>
                    <a:bodyPr/>
                    <a:lstStyle/>
                    <a:p>
                      <a:pPr>
                        <a:spcAft>
                          <a:spcPts val="0"/>
                        </a:spcAft>
                      </a:pPr>
                      <a:r>
                        <a:rPr sz="1200" b="0">
                          <a:solidFill>
                            <a:srgbClr val="E8ECF4"/>
                          </a:solidFill>
                          <a:latin typeface="Inter"/>
                        </a:rPr>
                        <a:t>$45</a:t>
                      </a:r>
                    </a:p>
                  </a:txBody>
                  <a:tcPr>
                    <a:solidFill>
                      <a:srgbClr val="111420"/>
                    </a:solidFill>
                  </a:tcPr>
                </a:tc>
                <a:tc>
                  <a:txBody>
                    <a:bodyPr/>
                    <a:lstStyle/>
                    <a:p>
                      <a:pPr>
                        <a:spcAft>
                          <a:spcPts val="0"/>
                        </a:spcAft>
                      </a:pPr>
                      <a:r>
                        <a:rPr sz="1200" b="0">
                          <a:solidFill>
                            <a:srgbClr val="E8ECF4"/>
                          </a:solidFill>
                          <a:latin typeface="Inter"/>
                        </a:rPr>
                        <a:t>$600</a:t>
                      </a:r>
                    </a:p>
                  </a:txBody>
                  <a:tcPr>
                    <a:solidFill>
                      <a:srgbClr val="111420"/>
                    </a:solidFill>
                  </a:tcPr>
                </a:tc>
              </a:tr>
              <a:tr h="548640">
                <a:tc>
                  <a:txBody>
                    <a:bodyPr/>
                    <a:lstStyle/>
                    <a:p>
                      <a:pPr>
                        <a:spcAft>
                          <a:spcPts val="0"/>
                        </a:spcAft>
                      </a:pPr>
                      <a:r>
                        <a:rPr sz="1200" b="1">
                          <a:solidFill>
                            <a:srgbClr val="5C6678"/>
                          </a:solidFill>
                          <a:latin typeface="Inter"/>
                        </a:rPr>
                        <a:t>truth HOLD</a:t>
                      </a:r>
                    </a:p>
                  </a:txBody>
                  <a:tcPr>
                    <a:solidFill>
                      <a:srgbClr val="111420"/>
                    </a:solidFill>
                  </a:tcPr>
                </a:tc>
                <a:tc>
                  <a:txBody>
                    <a:bodyPr/>
                    <a:lstStyle/>
                    <a:p>
                      <a:pPr>
                        <a:spcAft>
                          <a:spcPts val="0"/>
                        </a:spcAft>
                      </a:pPr>
                      <a:r>
                        <a:rPr sz="1200" b="0">
                          <a:solidFill>
                            <a:srgbClr val="E8ECF4"/>
                          </a:solidFill>
                          <a:latin typeface="Inter"/>
                        </a:rPr>
                        <a:t>$45</a:t>
                      </a:r>
                    </a:p>
                  </a:txBody>
                  <a:tcPr>
                    <a:solidFill>
                      <a:srgbClr val="111420"/>
                    </a:solidFill>
                  </a:tcPr>
                </a:tc>
                <a:tc>
                  <a:txBody>
                    <a:bodyPr/>
                    <a:lstStyle/>
                    <a:p>
                      <a:pPr>
                        <a:spcAft>
                          <a:spcPts val="0"/>
                        </a:spcAft>
                      </a:pPr>
                      <a:r>
                        <a:rPr sz="1200" b="0">
                          <a:solidFill>
                            <a:srgbClr val="E8ECF4"/>
                          </a:solidFill>
                          <a:latin typeface="Inter"/>
                        </a:rPr>
                        <a:t>$0</a:t>
                      </a:r>
                    </a:p>
                  </a:txBody>
                  <a:tcPr>
                    <a:solidFill>
                      <a:srgbClr val="111420"/>
                    </a:solidFill>
                  </a:tcPr>
                </a:tc>
                <a:tc>
                  <a:txBody>
                    <a:bodyPr/>
                    <a:lstStyle/>
                    <a:p>
                      <a:pPr>
                        <a:spcAft>
                          <a:spcPts val="0"/>
                        </a:spcAft>
                      </a:pPr>
                      <a:r>
                        <a:rPr sz="1200" b="0">
                          <a:solidFill>
                            <a:srgbClr val="E8ECF4"/>
                          </a:solidFill>
                          <a:latin typeface="Inter"/>
                        </a:rPr>
                        <a:t>$600</a:t>
                      </a:r>
                    </a:p>
                  </a:txBody>
                  <a:tcPr>
                    <a:solidFill>
                      <a:srgbClr val="111420"/>
                    </a:solidFill>
                  </a:tcPr>
                </a:tc>
              </a:tr>
              <a:tr h="548640">
                <a:tc>
                  <a:txBody>
                    <a:bodyPr/>
                    <a:lstStyle/>
                    <a:p>
                      <a:pPr>
                        <a:spcAft>
                          <a:spcPts val="0"/>
                        </a:spcAft>
                      </a:pPr>
                      <a:r>
                        <a:rPr sz="1200" b="1">
                          <a:solidFill>
                            <a:srgbClr val="5C6678"/>
                          </a:solidFill>
                          <a:latin typeface="Inter"/>
                        </a:rPr>
                        <a:t>truth REJECT</a:t>
                      </a:r>
                    </a:p>
                  </a:txBody>
                  <a:tcPr>
                    <a:solidFill>
                      <a:srgbClr val="111420"/>
                    </a:solidFill>
                  </a:tcPr>
                </a:tc>
                <a:tc>
                  <a:txBody>
                    <a:bodyPr/>
                    <a:lstStyle/>
                    <a:p>
                      <a:pPr>
                        <a:spcAft>
                          <a:spcPts val="0"/>
                        </a:spcAft>
                      </a:pPr>
                      <a:r>
                        <a:rPr sz="1200" b="1">
                          <a:solidFill>
                            <a:srgbClr val="CFA36C"/>
                          </a:solidFill>
                          <a:latin typeface="Inter"/>
                        </a:rPr>
                        <a:t>$2,000</a:t>
                      </a:r>
                    </a:p>
                  </a:txBody>
                  <a:tcPr>
                    <a:solidFill>
                      <a:srgbClr val="111420"/>
                    </a:solidFill>
                  </a:tcPr>
                </a:tc>
                <a:tc>
                  <a:txBody>
                    <a:bodyPr/>
                    <a:lstStyle/>
                    <a:p>
                      <a:pPr>
                        <a:spcAft>
                          <a:spcPts val="0"/>
                        </a:spcAft>
                      </a:pPr>
                      <a:r>
                        <a:rPr sz="1200" b="0">
                          <a:solidFill>
                            <a:srgbClr val="E8ECF4"/>
                          </a:solidFill>
                          <a:latin typeface="Inter"/>
                        </a:rPr>
                        <a:t>$500</a:t>
                      </a:r>
                    </a:p>
                  </a:txBody>
                  <a:tcPr>
                    <a:solidFill>
                      <a:srgbClr val="111420"/>
                    </a:solidFill>
                  </a:tcPr>
                </a:tc>
                <a:tc>
                  <a:txBody>
                    <a:bodyPr/>
                    <a:lstStyle/>
                    <a:p>
                      <a:pPr>
                        <a:spcAft>
                          <a:spcPts val="0"/>
                        </a:spcAft>
                      </a:pPr>
                      <a:r>
                        <a:rPr sz="1200" b="0">
                          <a:solidFill>
                            <a:srgbClr val="E8ECF4"/>
                          </a:solidFill>
                          <a:latin typeface="Inter"/>
                        </a:rPr>
                        <a:t>$0</a:t>
                      </a:r>
                    </a:p>
                  </a:txBody>
                  <a:tcPr>
                    <a:solidFill>
                      <a:srgbClr val="111420"/>
                    </a:solidFill>
                  </a:tcPr>
                </a:tc>
              </a:tr>
            </a:tbl>
          </a:graphicData>
        </a:graphic>
      </p:graphicFrame>
      <p:sp>
        <p:nvSpPr>
          <p:cNvPr id="5" name="TextBox 4"/>
          <p:cNvSpPr txBox="1"/>
          <p:nvPr/>
        </p:nvSpPr>
        <p:spPr>
          <a:xfrm>
            <a:off x="6400800" y="1828800"/>
            <a:ext cx="4937760" cy="4206240"/>
          </a:xfrm>
          <a:prstGeom prst="rect">
            <a:avLst/>
          </a:prstGeom>
          <a:noFill/>
        </p:spPr>
        <p:txBody>
          <a:bodyPr wrap="square">
            <a:spAutoFit/>
          </a:bodyPr>
          <a:lstStyle/>
          <a:p/>
          <a:p>
            <a:pPr>
              <a:spcAft>
                <a:spcPts val="1000"/>
              </a:spcAft>
            </a:pPr>
            <a:r>
              <a:rPr sz="1300" b="0">
                <a:solidFill>
                  <a:srgbClr val="E8ECF4"/>
                </a:solidFill>
                <a:latin typeface="Inter"/>
              </a:rPr>
              <a:t>EL_1k = (1000/N) SUM_i (1/R) SUM_r C(y_i, yhat_ir)</a:t>
            </a:r>
          </a:p>
          <a:p>
            <a:pPr>
              <a:spcAft>
                <a:spcPts val="1000"/>
              </a:spcAft>
            </a:pPr>
            <a:r>
              <a:rPr sz="1300" b="0">
                <a:solidFill>
                  <a:srgbClr val="E8ECF4"/>
                </a:solidFill>
                <a:latin typeface="Inter"/>
              </a:rPr>
              <a:t>unparseable run -&gt; charged max_yhat C(y_i, yhat), never dropped</a:t>
            </a:r>
          </a:p>
          <a:p>
            <a:pPr>
              <a:spcAft>
                <a:spcPts val="1000"/>
              </a:spcAft>
            </a:pPr>
            <a:r>
              <a:rPr sz="1300" b="0">
                <a:solidFill>
                  <a:srgbClr val="E8ECF4"/>
                </a:solidFill>
                <a:latin typeface="Inter"/>
              </a:rPr>
              <a:t>CI: case-clustered bootstrap, resample cases not runs, B=1,000, seed 1789</a:t>
            </a:r>
          </a:p>
          <a:p>
            <a:pPr>
              <a:spcAft>
                <a:spcPts val="1000"/>
              </a:spcAft>
            </a:pPr>
            <a:r>
              <a:rPr sz="1300" b="0">
                <a:solidFill>
                  <a:srgbClr val="E8ECF4"/>
                </a:solidFill>
                <a:latin typeface="Inter"/>
              </a:rPr>
              <a:t>rankable only if Wilson 95% width &lt;= 0.5 (z=1.96, n&gt;=8)</a:t>
            </a:r>
          </a:p>
          <a:p>
            <a:pPr>
              <a:spcAft>
                <a:spcPts val="1000"/>
              </a:spcAft>
            </a:pPr>
            <a:r>
              <a:rPr sz="1300" b="0">
                <a:solidFill>
                  <a:srgbClr val="E8ECF4"/>
                </a:solidFill>
                <a:latin typeface="Inter"/>
              </a:rPr>
              <a:t>EL(pi) = pi*EL_fraud + (1-pi)*EL_legit, pi swept 0.5% to 5%</a:t>
            </a:r>
          </a:p>
          <a:p>
            <a:pPr>
              <a:spcAft>
                <a:spcPts val="1000"/>
              </a:spcAft>
            </a:pPr>
            <a:r>
              <a:rPr sz="1300" b="0">
                <a:solidFill>
                  <a:srgbClr val="E8ECF4"/>
                </a:solidFill>
                <a:latin typeface="Inter"/>
              </a:rPr>
              <a:t>queue cost_1k = 1000 * p_HOLD * $35</a:t>
            </a:r>
          </a:p>
        </p:txBody>
      </p:sp>
      <p:sp>
        <p:nvSpPr>
          <p:cNvPr id="6" name="TextBox 5"/>
          <p:cNvSpPr txBox="1"/>
          <p:nvPr/>
        </p:nvSpPr>
        <p:spPr>
          <a:xfrm>
            <a:off x="822960" y="5806440"/>
            <a:ext cx="10515600" cy="914400"/>
          </a:xfrm>
          <a:prstGeom prst="rect">
            <a:avLst/>
          </a:prstGeom>
          <a:noFill/>
        </p:spPr>
        <p:txBody>
          <a:bodyPr wrap="square">
            <a:spAutoFit/>
          </a:bodyPr>
          <a:lstStyle/>
          <a:p>
            <a:pPr>
              <a:spcAft>
                <a:spcPts val="600"/>
              </a:spcAft>
            </a:pPr>
            <a:r>
              <a:rPr sz="1300" b="0">
                <a:solidFill>
                  <a:srgbClr val="8A93A3"/>
                </a:solidFill>
                <a:latin typeface="Inter"/>
              </a:rPr>
              <a:t>Three costs stated, one derived ($500 = containment on a caught fraud); the $2,000 false-approve swept 1k to 5k without the ranking flipping. Accuracy weighs every mistake 1; this matrix is why the benchmark ranks on dollars.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PLAN · THE MACHINE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One pipeline, every claim traceable to a run</a:t>
            </a:r>
          </a:p>
        </p:txBody>
      </p:sp>
      <p:sp>
        <p:nvSpPr>
          <p:cNvPr id="4" name="Rounded Rectangle 3"/>
          <p:cNvSpPr/>
          <p:nvPr/>
        </p:nvSpPr>
        <p:spPr>
          <a:xfrm>
            <a:off x="822960" y="2103120"/>
            <a:ext cx="2103120" cy="91440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89 labeled cases</a:t>
            </a:r>
          </a:p>
          <a:p>
            <a:pPr>
              <a:spcAft>
                <a:spcPts val="0"/>
              </a:spcAft>
            </a:pPr>
            <a:r>
              <a:rPr sz="1000" b="0">
                <a:solidFill>
                  <a:srgbClr val="8A93A3"/>
                </a:solidFill>
                <a:latin typeface="Inter"/>
              </a:rPr>
              <a:t>+ POLICY.md, frozen</a:t>
            </a:r>
          </a:p>
        </p:txBody>
      </p:sp>
      <p:sp>
        <p:nvSpPr>
          <p:cNvPr id="5" name="Rounded Rectangle 4"/>
          <p:cNvSpPr/>
          <p:nvPr/>
        </p:nvSpPr>
        <p:spPr>
          <a:xfrm>
            <a:off x="822960" y="3474720"/>
            <a:ext cx="2103120" cy="91440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prompt ladder</a:t>
            </a:r>
          </a:p>
          <a:p>
            <a:pPr>
              <a:spcAft>
                <a:spcPts val="0"/>
              </a:spcAft>
            </a:pPr>
            <a:r>
              <a:rPr sz="1000" b="0">
                <a:solidFill>
                  <a:srgbClr val="8A93A3"/>
                </a:solidFill>
                <a:latin typeface="Inter"/>
              </a:rPr>
              <a:t>v1..v5, one change per rung</a:t>
            </a:r>
          </a:p>
        </p:txBody>
      </p:sp>
      <p:sp>
        <p:nvSpPr>
          <p:cNvPr id="6" name="Rounded Rectangle 5"/>
          <p:cNvSpPr/>
          <p:nvPr/>
        </p:nvSpPr>
        <p:spPr>
          <a:xfrm>
            <a:off x="3474720" y="2788920"/>
            <a:ext cx="2103120" cy="914400"/>
          </a:xfrm>
          <a:prstGeom prst="roundRect">
            <a:avLst/>
          </a:prstGeom>
          <a:solidFill>
            <a:srgbClr val="111420"/>
          </a:solidFill>
          <a:ln w="15240">
            <a:solidFill>
              <a:srgbClr val="828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runner</a:t>
            </a:r>
          </a:p>
          <a:p>
            <a:pPr>
              <a:spcAft>
                <a:spcPts val="0"/>
              </a:spcAft>
            </a:pPr>
            <a:r>
              <a:rPr sz="1000" b="0">
                <a:solidFill>
                  <a:srgbClr val="8A93A3"/>
                </a:solidFill>
                <a:latin typeface="Inter"/>
              </a:rPr>
              <a:t>7 providers, N=5 repeats</a:t>
            </a:r>
          </a:p>
        </p:txBody>
      </p:sp>
      <p:sp>
        <p:nvSpPr>
          <p:cNvPr id="7" name="Rounded Rectangle 6"/>
          <p:cNvSpPr/>
          <p:nvPr/>
        </p:nvSpPr>
        <p:spPr>
          <a:xfrm>
            <a:off x="6126480" y="2788920"/>
            <a:ext cx="2103120" cy="914400"/>
          </a:xfrm>
          <a:prstGeom prst="roundRect">
            <a:avLst/>
          </a:prstGeom>
          <a:solidFill>
            <a:srgbClr val="111420"/>
          </a:solidFill>
          <a:ln w="15240">
            <a:solidFill>
              <a:srgbClr val="CFA3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sqlite ledger</a:t>
            </a:r>
          </a:p>
          <a:p>
            <a:pPr>
              <a:spcAft>
                <a:spcPts val="0"/>
              </a:spcAft>
            </a:pPr>
            <a:r>
              <a:rPr sz="1000" b="0">
                <a:solidFill>
                  <a:srgbClr val="8A93A3"/>
                </a:solidFill>
                <a:latin typeface="Inter"/>
              </a:rPr>
              <a:t>every run, hash-pinned</a:t>
            </a:r>
          </a:p>
        </p:txBody>
      </p:sp>
      <p:sp>
        <p:nvSpPr>
          <p:cNvPr id="8" name="Rounded Rectangle 7"/>
          <p:cNvSpPr/>
          <p:nvPr/>
        </p:nvSpPr>
        <p:spPr>
          <a:xfrm>
            <a:off x="3474720" y="4297680"/>
            <a:ext cx="2103120" cy="914400"/>
          </a:xfrm>
          <a:prstGeom prst="roundRect">
            <a:avLst/>
          </a:prstGeom>
          <a:solidFill>
            <a:srgbClr val="111420"/>
          </a:solidFill>
          <a:ln w="1524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trust gates</a:t>
            </a:r>
          </a:p>
          <a:p>
            <a:pPr>
              <a:spcAft>
                <a:spcPts val="0"/>
              </a:spcAft>
            </a:pPr>
            <a:r>
              <a:rPr sz="1000" b="0">
                <a:solidFill>
                  <a:srgbClr val="8A93A3"/>
                </a:solidFill>
                <a:latin typeface="Inter"/>
              </a:rPr>
              <a:t>n, contract, CI, flip, tripwire</a:t>
            </a:r>
          </a:p>
        </p:txBody>
      </p:sp>
      <p:sp>
        <p:nvSpPr>
          <p:cNvPr id="9" name="Rounded Rectangle 8"/>
          <p:cNvSpPr/>
          <p:nvPr/>
        </p:nvSpPr>
        <p:spPr>
          <a:xfrm>
            <a:off x="6126480" y="4297680"/>
            <a:ext cx="2103120" cy="91440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export</a:t>
            </a:r>
          </a:p>
          <a:p>
            <a:pPr>
              <a:spcAft>
                <a:spcPts val="0"/>
              </a:spcAft>
            </a:pPr>
            <a:r>
              <a:rPr sz="1000" b="0">
                <a:solidFill>
                  <a:srgbClr val="8A93A3"/>
                </a:solidFill>
                <a:latin typeface="Inter"/>
              </a:rPr>
              <a:t>benchmark.json, differential-tested</a:t>
            </a:r>
          </a:p>
        </p:txBody>
      </p:sp>
      <p:sp>
        <p:nvSpPr>
          <p:cNvPr id="10" name="Rounded Rectangle 9"/>
          <p:cNvSpPr/>
          <p:nvPr/>
        </p:nvSpPr>
        <p:spPr>
          <a:xfrm>
            <a:off x="8961120" y="3474720"/>
            <a:ext cx="2103120" cy="109728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surfaces</a:t>
            </a:r>
          </a:p>
          <a:p>
            <a:pPr>
              <a:spcAft>
                <a:spcPts val="0"/>
              </a:spcAft>
            </a:pPr>
            <a:r>
              <a:rPr sz="1000" b="0">
                <a:solidFill>
                  <a:srgbClr val="8A93A3"/>
                </a:solidFill>
                <a:latin typeface="Inter"/>
              </a:rPr>
              <a:t>site · notebook · deck · this room</a:t>
            </a:r>
          </a:p>
        </p:txBody>
      </p:sp>
      <p:cxnSp>
        <p:nvCxnSpPr>
          <p:cNvPr id="11" name="Connector 10"/>
          <p:cNvCxnSpPr/>
          <p:nvPr/>
        </p:nvCxnSpPr>
        <p:spPr>
          <a:xfrm>
            <a:off x="2926080" y="2651760"/>
            <a:ext cx="548640" cy="41148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26080" y="3429000"/>
            <a:ext cx="548640" cy="41148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577840" y="3246120"/>
            <a:ext cx="548640" cy="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669280" y="3703320"/>
            <a:ext cx="1097280" cy="64008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77840" y="4754880"/>
            <a:ext cx="548640" cy="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229600" y="4206240"/>
            <a:ext cx="777240" cy="45720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229600" y="3154680"/>
            <a:ext cx="777240" cy="50292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806440"/>
            <a:ext cx="10515600" cy="914400"/>
          </a:xfrm>
          <a:prstGeom prst="rect">
            <a:avLst/>
          </a:prstGeom>
          <a:noFill/>
        </p:spPr>
        <p:txBody>
          <a:bodyPr wrap="square">
            <a:spAutoFit/>
          </a:bodyPr>
          <a:lstStyle/>
          <a:p>
            <a:pPr>
              <a:spcAft>
                <a:spcPts val="600"/>
              </a:spcAft>
            </a:pPr>
            <a:r>
              <a:rPr sz="1300" b="0">
                <a:solidFill>
                  <a:srgbClr val="8A93A3"/>
                </a:solidFill>
                <a:latin typeface="Inter"/>
              </a:rPr>
              <a:t>The deck, the site, and the notebook all read the same export; the export mirrors the cost model exactly and a differential test proves it. No number on any surface has a second source.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DATA</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89 labeled cases, five suites, tiers kept apart</a:t>
            </a:r>
          </a:p>
        </p:txBody>
      </p:sp>
      <p:pic>
        <p:nvPicPr>
          <p:cNvPr id="4" name="Picture 3" descr="eda_corpus.png"/>
          <p:cNvPicPr>
            <a:picLocks noChangeAspect="1"/>
          </p:cNvPicPr>
          <p:nvPr/>
        </p:nvPicPr>
        <p:blipFill>
          <a:blip r:embed="rId2"/>
          <a:stretch>
            <a:fillRect/>
          </a:stretch>
        </p:blipFill>
        <p:spPr>
          <a:xfrm>
            <a:off x="822960" y="1920240"/>
            <a:ext cx="11887200" cy="3291840"/>
          </a:xfrm>
          <a:prstGeom prst="rect">
            <a:avLst/>
          </a:prstGeom>
        </p:spPr>
      </p:pic>
      <p:sp>
        <p:nvSpPr>
          <p:cNvPr id="5" name="TextBox 4"/>
          <p:cNvSpPr txBox="1"/>
          <p:nvPr/>
        </p:nvSpPr>
        <p:spPr>
          <a:xfrm>
            <a:off x="822960" y="5577840"/>
            <a:ext cx="10515600" cy="914400"/>
          </a:xfrm>
          <a:prstGeom prst="rect">
            <a:avLst/>
          </a:prstGeom>
          <a:noFill/>
        </p:spPr>
        <p:txBody>
          <a:bodyPr wrap="square">
            <a:spAutoFit/>
          </a:bodyPr>
          <a:lstStyle/>
          <a:p>
            <a:pPr>
              <a:spcAft>
                <a:spcPts val="600"/>
              </a:spcAft>
            </a:pPr>
            <a:r>
              <a:rPr sz="1300" b="0">
                <a:solidFill>
                  <a:srgbClr val="8A93A3"/>
                </a:solidFill>
                <a:latin typeface="Inter"/>
              </a:rPr>
              <a:t>Only 4 labels are expert ground truth; construction labels say so wherever they appear.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THE LADDER</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Repeats dissolve stories</a:t>
            </a:r>
          </a:p>
        </p:txBody>
      </p:sp>
      <p:pic>
        <p:nvPicPr>
          <p:cNvPr id="4" name="Picture 3" descr="injection_repeats.png"/>
          <p:cNvPicPr>
            <a:picLocks noChangeAspect="1"/>
          </p:cNvPicPr>
          <p:nvPr/>
        </p:nvPicPr>
        <p:blipFill>
          <a:blip r:embed="rId2"/>
          <a:stretch>
            <a:fillRect/>
          </a:stretch>
        </p:blipFill>
        <p:spPr>
          <a:xfrm>
            <a:off x="822960" y="1920240"/>
            <a:ext cx="6589059" cy="3200400"/>
          </a:xfrm>
          <a:prstGeom prst="rect">
            <a:avLst/>
          </a:prstGeom>
        </p:spPr>
      </p:pic>
      <p:sp>
        <p:nvSpPr>
          <p:cNvPr id="5" name="TextBox 4"/>
          <p:cNvSpPr txBox="1"/>
          <p:nvPr/>
        </p:nvSpPr>
        <p:spPr>
          <a:xfrm>
            <a:off x="822960" y="5486400"/>
            <a:ext cx="10515600" cy="914400"/>
          </a:xfrm>
          <a:prstGeom prst="rect">
            <a:avLst/>
          </a:prstGeom>
          <a:noFill/>
        </p:spPr>
        <p:txBody>
          <a:bodyPr wrap="square">
            <a:spAutoFit/>
          </a:bodyPr>
          <a:lstStyle/>
          <a:p>
            <a:pPr>
              <a:spcAft>
                <a:spcPts val="600"/>
              </a:spcAft>
            </a:pPr>
            <a:r>
              <a:rPr sz="1300" b="0">
                <a:solidFill>
                  <a:srgbClr val="8A93A3"/>
                </a:solidFill>
                <a:latin typeface="Inter"/>
              </a:rPr>
              <a:t>A single run showed v4b resisting the hardest planted note; N=5 put every shipped rung in one coin-flip band. The repeat protocol also reversed one gate decision and revoked one perfect score.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THE MATRIX</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The gate bites, and ranking survives</a:t>
            </a:r>
          </a:p>
        </p:txBody>
      </p:sp>
      <p:sp>
        <p:nvSpPr>
          <p:cNvPr id="4" name="TextBox 3"/>
          <p:cNvSpPr txBox="1"/>
          <p:nvPr/>
        </p:nvSpPr>
        <p:spPr>
          <a:xfrm>
            <a:off x="822960" y="1737360"/>
            <a:ext cx="3566160" cy="2011680"/>
          </a:xfrm>
          <a:prstGeom prst="rect">
            <a:avLst/>
          </a:prstGeom>
          <a:noFill/>
        </p:spPr>
        <p:txBody>
          <a:bodyPr wrap="none">
            <a:spAutoFit/>
          </a:bodyPr>
          <a:lstStyle/>
          <a:p>
            <a:pPr>
              <a:spcAft>
                <a:spcPts val="600"/>
              </a:spcAft>
            </a:pPr>
            <a:r>
              <a:rPr sz="5800" b="1">
                <a:solidFill>
                  <a:srgbClr val="E8ECF4"/>
                </a:solidFill>
                <a:latin typeface="Inter"/>
              </a:rPr>
              <a:t>38</a:t>
            </a:r>
          </a:p>
          <a:p>
            <a:pPr>
              <a:spcAft>
                <a:spcPts val="600"/>
              </a:spcAft>
            </a:pPr>
            <a:r>
              <a:rPr sz="1100" b="0">
                <a:solidFill>
                  <a:srgbClr val="5C6678"/>
                </a:solidFill>
                <a:latin typeface="Inter"/>
              </a:rPr>
              <a:t>PROMPT X MODEL CELLS</a:t>
            </a:r>
          </a:p>
        </p:txBody>
      </p:sp>
      <p:sp>
        <p:nvSpPr>
          <p:cNvPr id="5" name="TextBox 4"/>
          <p:cNvSpPr txBox="1"/>
          <p:nvPr/>
        </p:nvSpPr>
        <p:spPr>
          <a:xfrm>
            <a:off x="4572000" y="1737360"/>
            <a:ext cx="3566160" cy="2011680"/>
          </a:xfrm>
          <a:prstGeom prst="rect">
            <a:avLst/>
          </a:prstGeom>
          <a:noFill/>
        </p:spPr>
        <p:txBody>
          <a:bodyPr wrap="none">
            <a:spAutoFit/>
          </a:bodyPr>
          <a:lstStyle/>
          <a:p>
            <a:pPr>
              <a:spcAft>
                <a:spcPts val="600"/>
              </a:spcAft>
            </a:pPr>
            <a:r>
              <a:rPr sz="5800" b="1">
                <a:solidFill>
                  <a:srgbClr val="CFA36C"/>
                </a:solidFill>
                <a:latin typeface="Inter"/>
              </a:rPr>
              <a:t>10</a:t>
            </a:r>
          </a:p>
          <a:p>
            <a:pPr>
              <a:spcAft>
                <a:spcPts val="600"/>
              </a:spcAft>
            </a:pPr>
            <a:r>
              <a:rPr sz="1100" b="0">
                <a:solidFill>
                  <a:srgbClr val="5C6678"/>
                </a:solidFill>
                <a:latin typeface="Inter"/>
              </a:rPr>
              <a:t>DISQUALIFIED BY THE ZERO-TOLERANCE TRIPWIRE</a:t>
            </a:r>
          </a:p>
        </p:txBody>
      </p:sp>
      <p:sp>
        <p:nvSpPr>
          <p:cNvPr id="6" name="TextBox 5"/>
          <p:cNvSpPr txBox="1"/>
          <p:nvPr/>
        </p:nvSpPr>
        <p:spPr>
          <a:xfrm>
            <a:off x="8321040" y="1737360"/>
            <a:ext cx="3566160" cy="2011680"/>
          </a:xfrm>
          <a:prstGeom prst="rect">
            <a:avLst/>
          </a:prstGeom>
          <a:noFill/>
        </p:spPr>
        <p:txBody>
          <a:bodyPr wrap="none">
            <a:spAutoFit/>
          </a:bodyPr>
          <a:lstStyle/>
          <a:p>
            <a:pPr>
              <a:spcAft>
                <a:spcPts val="600"/>
              </a:spcAft>
            </a:pPr>
            <a:r>
              <a:rPr sz="5800" b="1">
                <a:solidFill>
                  <a:srgbClr val="E8ECF4"/>
                </a:solidFill>
                <a:latin typeface="Inter"/>
              </a:rPr>
              <a:t>9</a:t>
            </a:r>
          </a:p>
          <a:p>
            <a:pPr>
              <a:spcAft>
                <a:spcPts val="600"/>
              </a:spcAft>
            </a:pPr>
            <a:r>
              <a:rPr sz="1100" b="0">
                <a:solidFill>
                  <a:srgbClr val="5C6678"/>
                </a:solidFill>
                <a:latin typeface="Inter"/>
              </a:rPr>
              <a:t>FULLY TRUSTED CELLS</a:t>
            </a:r>
          </a:p>
        </p:txBody>
      </p:sp>
      <p:pic>
        <p:nvPicPr>
          <p:cNvPr id="7" name="Picture 6" descr="bootstrap_loss.png"/>
          <p:cNvPicPr>
            <a:picLocks noChangeAspect="1"/>
          </p:cNvPicPr>
          <p:nvPr/>
        </p:nvPicPr>
        <p:blipFill>
          <a:blip r:embed="rId2"/>
          <a:stretch>
            <a:fillRect/>
          </a:stretch>
        </p:blipFill>
        <p:spPr>
          <a:xfrm>
            <a:off x="822960" y="3291840"/>
            <a:ext cx="4064000" cy="2286000"/>
          </a:xfrm>
          <a:prstGeom prst="rect">
            <a:avLst/>
          </a:prstGeom>
        </p:spPr>
      </p:pic>
      <p:sp>
        <p:nvSpPr>
          <p:cNvPr id="8" name="TextBox 7"/>
          <p:cNvSpPr txBox="1"/>
          <p:nvPr/>
        </p:nvSpPr>
        <p:spPr>
          <a:xfrm>
            <a:off x="822960" y="5120640"/>
            <a:ext cx="10515600" cy="914400"/>
          </a:xfrm>
          <a:prstGeom prst="rect">
            <a:avLst/>
          </a:prstGeom>
          <a:noFill/>
        </p:spPr>
        <p:txBody>
          <a:bodyPr wrap="square">
            <a:spAutoFit/>
          </a:bodyPr>
          <a:lstStyle/>
          <a:p>
            <a:pPr>
              <a:spcAft>
                <a:spcPts val="600"/>
              </a:spcAft>
            </a:pPr>
            <a:r>
              <a:rPr sz="1300" b="0">
                <a:solidFill>
                  <a:srgbClr val="8A93A3"/>
                </a:solidFill>
                <a:latin typeface="Inter"/>
              </a:rPr>
              <a:t>Weighted loss is the one OEC; contract, flip, injection, and the tripwire sit OUTSIDE it as guardrails, on purpose: fold them in and the score becomes gameable. The gate fired ten times and the ranking survived.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CONFIDENCE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Stated confidence is decorative; earned confidence is measured</a:t>
            </a:r>
          </a:p>
        </p:txBody>
      </p:sp>
      <p:pic>
        <p:nvPicPr>
          <p:cNvPr id="4" name="Picture 3" descr="reliability.png"/>
          <p:cNvPicPr>
            <a:picLocks noChangeAspect="1"/>
          </p:cNvPicPr>
          <p:nvPr/>
        </p:nvPicPr>
        <p:blipFill>
          <a:blip r:embed="rId2"/>
          <a:stretch>
            <a:fillRect/>
          </a:stretch>
        </p:blipFill>
        <p:spPr>
          <a:xfrm>
            <a:off x="822960" y="1920240"/>
            <a:ext cx="7786309" cy="3383280"/>
          </a:xfrm>
          <a:prstGeom prst="rect">
            <a:avLst/>
          </a:prstGeom>
        </p:spPr>
      </p:pic>
      <p:sp>
        <p:nvSpPr>
          <p:cNvPr id="5" name="TextBox 4"/>
          <p:cNvSpPr txBox="1"/>
          <p:nvPr/>
        </p:nvSpPr>
        <p:spPr>
          <a:xfrm>
            <a:off x="822960" y="5577840"/>
            <a:ext cx="10515600" cy="914400"/>
          </a:xfrm>
          <a:prstGeom prst="rect">
            <a:avLst/>
          </a:prstGeom>
          <a:noFill/>
        </p:spPr>
        <p:txBody>
          <a:bodyPr wrap="square">
            <a:spAutoFit/>
          </a:bodyPr>
          <a:lstStyle/>
          <a:p>
            <a:pPr>
              <a:spcAft>
                <a:spcPts val="600"/>
              </a:spcAft>
            </a:pPr>
            <a:r>
              <a:rPr sz="1300" b="0">
                <a:solidFill>
                  <a:srgbClr val="8A93A3"/>
                </a:solidFill>
                <a:latin typeface="Inter"/>
              </a:rPr>
              <a:t>All 21 stated confidences live between 0.90 and 1.00 while the runs earn 0.90 overall; at stated 0.90 the model was right once in two. The replacement: vote fraction over N=5 temperature-raised repeats.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THE JUDGE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Triangulated across three families</a:t>
            </a:r>
          </a:p>
        </p:txBody>
      </p:sp>
      <p:sp>
        <p:nvSpPr>
          <p:cNvPr id="4" name="TextBox 3"/>
          <p:cNvSpPr txBox="1"/>
          <p:nvPr/>
        </p:nvSpPr>
        <p:spPr>
          <a:xfrm>
            <a:off x="822960" y="2103120"/>
            <a:ext cx="10424160" cy="3108960"/>
          </a:xfrm>
          <a:prstGeom prst="rect">
            <a:avLst/>
          </a:prstGeom>
          <a:noFill/>
        </p:spPr>
        <p:txBody>
          <a:bodyPr wrap="none">
            <a:spAutoFit/>
          </a:bodyPr>
          <a:lstStyle/>
          <a:p>
            <a:pPr>
              <a:spcAft>
                <a:spcPts val="1600"/>
              </a:spcAft>
            </a:pPr>
            <a:r>
              <a:rPr sz="1800" b="1">
                <a:solidFill>
                  <a:srgbClr val="E8ECF4"/>
                </a:solidFill>
                <a:latin typeface="Consolas"/>
              </a:rPr>
              <a:t>gemini-flash          </a:t>
            </a:r>
            <a:r>
              <a:rPr sz="1800" b="1">
                <a:solidFill>
                  <a:srgbClr val="F87171"/>
                </a:solidFill>
                <a:latin typeface="Consolas"/>
              </a:rPr>
              <a:t>  5.0 / 5.0 / 5.0   </a:t>
            </a:r>
            <a:r>
              <a:rPr sz="1400">
                <a:solidFill>
                  <a:srgbClr val="8A93A3"/>
                </a:solidFill>
                <a:latin typeface="Inter"/>
              </a:rPr>
              <a:t>saturated: a dead instrument, reported as one</a:t>
            </a:r>
          </a:p>
          <a:p>
            <a:pPr>
              <a:spcAft>
                <a:spcPts val="1600"/>
              </a:spcAft>
            </a:pPr>
            <a:r>
              <a:rPr sz="1800" b="1">
                <a:solidFill>
                  <a:srgbClr val="E8ECF4"/>
                </a:solidFill>
                <a:latin typeface="Consolas"/>
              </a:rPr>
              <a:t>claude-haiku          </a:t>
            </a:r>
            <a:r>
              <a:rPr sz="1800" b="1">
                <a:solidFill>
                  <a:srgbClr val="4ADE80"/>
                </a:solidFill>
                <a:latin typeface="Consolas"/>
              </a:rPr>
              <a:t>  4.2 / 3.9 / 3.1   </a:t>
            </a:r>
            <a:r>
              <a:rPr sz="1400">
                <a:solidFill>
                  <a:srgbClr val="8A93A3"/>
                </a:solidFill>
                <a:latin typeface="Inter"/>
              </a:rPr>
              <a:t>discriminates; proportionality lowest</a:t>
            </a:r>
          </a:p>
          <a:p>
            <a:pPr>
              <a:spcAft>
                <a:spcPts val="1600"/>
              </a:spcAft>
            </a:pPr>
            <a:r>
              <a:rPr sz="1800" b="1">
                <a:solidFill>
                  <a:srgbClr val="E8ECF4"/>
                </a:solidFill>
                <a:latin typeface="Consolas"/>
              </a:rPr>
              <a:t>phi-4 (microsoft)     </a:t>
            </a:r>
            <a:r>
              <a:rPr sz="1800" b="1">
                <a:solidFill>
                  <a:srgbClr val="4ADE80"/>
                </a:solidFill>
                <a:latin typeface="Consolas"/>
              </a:rPr>
              <a:t>  4.6 / 5.0 / 4.7   </a:t>
            </a:r>
            <a:r>
              <a:rPr sz="1400">
                <a:solidFill>
                  <a:srgbClr val="8A93A3"/>
                </a:solidFill>
                <a:latin typeface="Inter"/>
              </a:rPr>
              <a:t>third family, overlaps no judged column</a:t>
            </a:r>
          </a:p>
        </p:txBody>
      </p:sp>
      <p:sp>
        <p:nvSpPr>
          <p:cNvPr id="5" name="TextBox 4"/>
          <p:cNvSpPr txBox="1"/>
          <p:nvPr/>
        </p:nvSpPr>
        <p:spPr>
          <a:xfrm>
            <a:off x="822960" y="5394960"/>
            <a:ext cx="10515600" cy="914400"/>
          </a:xfrm>
          <a:prstGeom prst="rect">
            <a:avLst/>
          </a:prstGeom>
          <a:noFill/>
        </p:spPr>
        <p:txBody>
          <a:bodyPr wrap="square">
            <a:spAutoFit/>
          </a:bodyPr>
          <a:lstStyle/>
          <a:p>
            <a:pPr>
              <a:spcAft>
                <a:spcPts val="600"/>
              </a:spcAft>
            </a:pPr>
            <a:r>
              <a:rPr sz="1300" b="0">
                <a:solidFill>
                  <a:srgbClr val="8A93A3"/>
                </a:solidFill>
                <a:latin typeface="Inter"/>
              </a:rPr>
              <a:t>Both discriminating families score proportionality lowest, the axis the policy makes hardest. The saturated judge is never averaged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SCALE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64 generated cases found a policy ambiguity</a:t>
            </a:r>
          </a:p>
        </p:txBody>
      </p:sp>
      <p:pic>
        <p:nvPicPr>
          <p:cNvPr id="4" name="Picture 3" descr="synthetic_sweep.png"/>
          <p:cNvPicPr>
            <a:picLocks noChangeAspect="1"/>
          </p:cNvPicPr>
          <p:nvPr/>
        </p:nvPicPr>
        <p:blipFill>
          <a:blip r:embed="rId2"/>
          <a:stretch>
            <a:fillRect/>
          </a:stretch>
        </p:blipFill>
        <p:spPr>
          <a:xfrm>
            <a:off x="822960" y="1920240"/>
            <a:ext cx="6463476" cy="3200400"/>
          </a:xfrm>
          <a:prstGeom prst="rect">
            <a:avLst/>
          </a:prstGeom>
        </p:spPr>
      </p:pic>
      <p:sp>
        <p:nvSpPr>
          <p:cNvPr id="5" name="TextBox 4"/>
          <p:cNvSpPr txBox="1"/>
          <p:nvPr/>
        </p:nvSpPr>
        <p:spPr>
          <a:xfrm>
            <a:off x="822960" y="5486400"/>
            <a:ext cx="10515600" cy="914400"/>
          </a:xfrm>
          <a:prstGeom prst="rect">
            <a:avLst/>
          </a:prstGeom>
          <a:noFill/>
        </p:spPr>
        <p:txBody>
          <a:bodyPr wrap="square">
            <a:spAutoFit/>
          </a:bodyPr>
          <a:lstStyle/>
          <a:p>
            <a:pPr>
              <a:spcAft>
                <a:spcPts val="600"/>
              </a:spcAft>
            </a:pPr>
            <a:r>
              <a:rPr sz="1300" b="0">
                <a:solidFill>
                  <a:srgbClr val="8A93A3"/>
                </a:solidFill>
                <a:latin typeface="Inter"/>
              </a:rPr>
              <a:t>v5 sweeps the uncontested archetypes 48/48 (v1: 44/48). The contested family splits seven models 20-8 with no family pattern: the disagreement lives in the policy text, routed to its owner, never resolved by 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THE QUESTION A 100% ROW EARNS</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Is v5 overfit to nine cases? Three tests, one open risk</a:t>
            </a:r>
          </a:p>
        </p:txBody>
      </p:sp>
      <p:sp>
        <p:nvSpPr>
          <p:cNvPr id="4" name="TextBox 3"/>
          <p:cNvSpPr txBox="1"/>
          <p:nvPr/>
        </p:nvSpPr>
        <p:spPr>
          <a:xfrm>
            <a:off x="822960" y="1828800"/>
            <a:ext cx="10424160" cy="4297680"/>
          </a:xfrm>
          <a:prstGeom prst="rect">
            <a:avLst/>
          </a:prstGeom>
          <a:noFill/>
        </p:spPr>
        <p:txBody>
          <a:bodyPr wrap="square">
            <a:spAutoFit/>
          </a:bodyPr>
          <a:lstStyle/>
          <a:p>
            <a:pPr>
              <a:spcAft>
                <a:spcPts val="1100"/>
              </a:spcAft>
            </a:pPr>
            <a:r>
              <a:rPr sz="1400" b="1">
                <a:solidFill>
                  <a:srgbClr val="E8ECF4"/>
                </a:solidFill>
                <a:latin typeface="Inter"/>
              </a:rPr>
              <a:t>Transfer it never trained for: </a:t>
            </a:r>
            <a:r>
              <a:rPr sz="1400">
                <a:solidFill>
                  <a:srgbClr val="8A93A3"/>
                </a:solidFill>
                <a:latin typeface="Inter"/>
              </a:rPr>
              <a:t>v5 was tuned against gemini-flash only. Unchanged, it scores 12/12 on claude-sonnet and claude-haiku and 11/12 on gemini-pro (n=12 each).</a:t>
            </a:r>
          </a:p>
          <a:p>
            <a:pPr>
              <a:spcAft>
                <a:spcPts val="1100"/>
              </a:spcAft>
            </a:pPr>
            <a:r>
              <a:rPr sz="1400" b="1">
                <a:solidFill>
                  <a:srgbClr val="E8ECF4"/>
                </a:solidFill>
                <a:latin typeface="Inter"/>
              </a:rPr>
              <a:t>Data authored after the freeze: </a:t>
            </a:r>
            <a:r>
              <a:rPr sz="1400">
                <a:solidFill>
                  <a:srgbClr val="8A93A3"/>
                </a:solidFill>
                <a:latin typeface="Inter"/>
              </a:rPr>
              <a:t>the 64 generated cases did not exist when v5 froze. It sweeps 56/56 on flash, 48/48 on qwen, 46/48 on gemini-pro. Overfit collapses on unseen data; this did not.</a:t>
            </a:r>
          </a:p>
          <a:p>
            <a:pPr>
              <a:spcAft>
                <a:spcPts val="1100"/>
              </a:spcAft>
            </a:pPr>
            <a:r>
              <a:rPr sz="1400" b="1">
                <a:solidFill>
                  <a:srgbClr val="E8ECF4"/>
                </a:solidFill>
                <a:latin typeface="Inter"/>
              </a:rPr>
              <a:t>Weak columns fail for capacity, not memorization: </a:t>
            </a:r>
            <a:r>
              <a:rPr sz="1400">
                <a:solidFill>
                  <a:srgbClr val="8A93A3"/>
                </a:solidFill>
                <a:latin typeface="Inter"/>
              </a:rPr>
              <a:t>llama trails at every rung, 8/12 on v1 before any tuning existed, 9/12 at v5 with contract 1.00. The ladder never bent toward its failures, and they predate it.</a:t>
            </a:r>
          </a:p>
          <a:p>
            <a:pPr>
              <a:spcAft>
                <a:spcPts val="1100"/>
              </a:spcAft>
            </a:pPr>
            <a:r>
              <a:rPr sz="1400" b="1">
                <a:solidFill>
                  <a:srgbClr val="E8ECF4"/>
                </a:solidFill>
                <a:latin typeface="Inter"/>
              </a:rPr>
              <a:t>The discipline check: </a:t>
            </a:r>
            <a:r>
              <a:rPr sz="1400">
                <a:solidFill>
                  <a:srgbClr val="8A93A3"/>
                </a:solidFill>
                <a:latin typeface="Inter"/>
              </a:rPr>
              <a:t>v6 was rejected on its own pre-registered bar. An overfitting process chases the suite; this one turned down a better injection score.</a:t>
            </a:r>
          </a:p>
          <a:p>
            <a:pPr>
              <a:spcAft>
                <a:spcPts val="1100"/>
              </a:spcAft>
            </a:pPr>
            <a:r>
              <a:rPr sz="1400" b="1">
                <a:solidFill>
                  <a:srgbClr val="E8ECF4"/>
                </a:solidFill>
                <a:latin typeface="Inter"/>
              </a:rPr>
              <a:t>Open, stated: </a:t>
            </a:r>
            <a:r>
              <a:rPr sz="1400">
                <a:solidFill>
                  <a:srgbClr val="8A93A3"/>
                </a:solidFill>
                <a:latin typeface="Inter"/>
              </a:rPr>
              <a:t>the true holdout is n=3 (v5: 2/3), too small to certify anything. That is why the gates carry the ship claim and more expert labels is the named blocker.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THE QUEUE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A contested case is routed, not resolved</a:t>
            </a:r>
          </a:p>
        </p:txBody>
      </p:sp>
      <p:sp>
        <p:nvSpPr>
          <p:cNvPr id="4" name="Rounded Rectangle 3"/>
          <p:cNvSpPr/>
          <p:nvPr/>
        </p:nvSpPr>
        <p:spPr>
          <a:xfrm>
            <a:off x="822960" y="3017520"/>
            <a:ext cx="2286000" cy="96012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data_quality_flag</a:t>
            </a:r>
          </a:p>
          <a:p>
            <a:pPr>
              <a:spcAft>
                <a:spcPts val="0"/>
              </a:spcAft>
            </a:pPr>
            <a:r>
              <a:rPr sz="1000" b="0">
                <a:solidFill>
                  <a:srgbClr val="8A93A3"/>
                </a:solidFill>
                <a:latin typeface="Inter"/>
              </a:rPr>
              <a:t>generated archetype, 28 runs</a:t>
            </a:r>
          </a:p>
        </p:txBody>
      </p:sp>
      <p:sp>
        <p:nvSpPr>
          <p:cNvPr id="5" name="Rounded Rectangle 4"/>
          <p:cNvSpPr/>
          <p:nvPr/>
        </p:nvSpPr>
        <p:spPr>
          <a:xfrm>
            <a:off x="3657600" y="3017520"/>
            <a:ext cx="2286000" cy="960120"/>
          </a:xfrm>
          <a:prstGeom prst="roundRect">
            <a:avLst/>
          </a:prstGeom>
          <a:solidFill>
            <a:srgbClr val="111420"/>
          </a:solidFill>
          <a:ln w="15240">
            <a:solidFill>
              <a:srgbClr val="828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seven models</a:t>
            </a:r>
          </a:p>
          <a:p>
            <a:pPr>
              <a:spcAft>
                <a:spcPts val="0"/>
              </a:spcAft>
            </a:pPr>
            <a:r>
              <a:rPr sz="1000" b="0">
                <a:solidFill>
                  <a:srgbClr val="8A93A3"/>
                </a:solidFill>
                <a:latin typeface="Inter"/>
              </a:rPr>
              <a:t>split 20 HOLD / 8 REJECT</a:t>
            </a:r>
          </a:p>
        </p:txBody>
      </p:sp>
      <p:sp>
        <p:nvSpPr>
          <p:cNvPr id="6" name="Rounded Rectangle 5"/>
          <p:cNvSpPr/>
          <p:nvPr/>
        </p:nvSpPr>
        <p:spPr>
          <a:xfrm>
            <a:off x="6583680" y="2011680"/>
            <a:ext cx="2377440" cy="960120"/>
          </a:xfrm>
          <a:prstGeom prst="roundRect">
            <a:avLst/>
          </a:prstGeom>
          <a:solidFill>
            <a:srgbClr val="111420"/>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not a model error</a:t>
            </a:r>
          </a:p>
          <a:p>
            <a:pPr>
              <a:spcAft>
                <a:spcPts val="0"/>
              </a:spcAft>
            </a:pPr>
            <a:r>
              <a:rPr sz="1000" b="0">
                <a:solidFill>
                  <a:srgbClr val="8A93A3"/>
                </a:solidFill>
                <a:latin typeface="Inter"/>
              </a:rPr>
              <a:t>POLICY.md underdetermines it</a:t>
            </a:r>
          </a:p>
        </p:txBody>
      </p:sp>
      <p:sp>
        <p:nvSpPr>
          <p:cNvPr id="7" name="Rounded Rectangle 6"/>
          <p:cNvSpPr/>
          <p:nvPr/>
        </p:nvSpPr>
        <p:spPr>
          <a:xfrm>
            <a:off x="6583680" y="4114800"/>
            <a:ext cx="2377440" cy="960120"/>
          </a:xfrm>
          <a:prstGeom prst="roundRect">
            <a:avLst/>
          </a:prstGeom>
          <a:solidFill>
            <a:srgbClr val="111420"/>
          </a:solidFill>
          <a:ln w="15240">
            <a:solidFill>
              <a:srgbClr val="3A3F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no score assigned</a:t>
            </a:r>
          </a:p>
          <a:p>
            <a:pPr>
              <a:spcAft>
                <a:spcPts val="0"/>
              </a:spcAft>
            </a:pPr>
            <a:r>
              <a:rPr sz="1000" b="0">
                <a:solidFill>
                  <a:srgbClr val="8A93A3"/>
                </a:solidFill>
                <a:latin typeface="Inter"/>
              </a:rPr>
              <a:t>contested flag in the ledger</a:t>
            </a:r>
          </a:p>
        </p:txBody>
      </p:sp>
      <p:sp>
        <p:nvSpPr>
          <p:cNvPr id="8" name="Rounded Rectangle 7"/>
          <p:cNvSpPr/>
          <p:nvPr/>
        </p:nvSpPr>
        <p:spPr>
          <a:xfrm>
            <a:off x="9418320" y="3017520"/>
            <a:ext cx="1920240" cy="1051560"/>
          </a:xfrm>
          <a:prstGeom prst="roundRect">
            <a:avLst/>
          </a:prstGeom>
          <a:solidFill>
            <a:srgbClr val="111420"/>
          </a:solidFill>
          <a:ln w="15240">
            <a:solidFill>
              <a:srgbClr val="CFA3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300" b="1">
                <a:solidFill>
                  <a:srgbClr val="E8ECF4"/>
                </a:solidFill>
                <a:latin typeface="Inter"/>
              </a:rPr>
              <a:t>policy owner</a:t>
            </a:r>
          </a:p>
          <a:p>
            <a:pPr>
              <a:spcAft>
                <a:spcPts val="0"/>
              </a:spcAft>
            </a:pPr>
            <a:r>
              <a:rPr sz="1000" b="0">
                <a:solidFill>
                  <a:srgbClr val="8A93A3"/>
                </a:solidFill>
                <a:latin typeface="Inter"/>
              </a:rPr>
              <a:t>gets the split, decides once</a:t>
            </a:r>
          </a:p>
        </p:txBody>
      </p:sp>
      <p:cxnSp>
        <p:nvCxnSpPr>
          <p:cNvPr id="9" name="Connector 8"/>
          <p:cNvCxnSpPr/>
          <p:nvPr/>
        </p:nvCxnSpPr>
        <p:spPr>
          <a:xfrm>
            <a:off x="3108960" y="3520440"/>
            <a:ext cx="548640" cy="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5943600" y="2651760"/>
            <a:ext cx="640080" cy="54864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43600" y="3840480"/>
            <a:ext cx="640080" cy="64008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961120" y="2514600"/>
            <a:ext cx="594360" cy="50292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961120" y="4069080"/>
            <a:ext cx="594360" cy="502920"/>
          </a:xfrm>
          <a:prstGeom prst="line">
            <a:avLst/>
          </a:prstGeom>
          <a:ln w="20320">
            <a:solidFill>
              <a:srgbClr val="828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5806440"/>
            <a:ext cx="10515600" cy="914400"/>
          </a:xfrm>
          <a:prstGeom prst="rect">
            <a:avLst/>
          </a:prstGeom>
          <a:noFill/>
        </p:spPr>
        <p:txBody>
          <a:bodyPr wrap="square">
            <a:spAutoFit/>
          </a:bodyPr>
          <a:lstStyle/>
          <a:p>
            <a:pPr>
              <a:spcAft>
                <a:spcPts val="600"/>
              </a:spcAft>
            </a:pPr>
            <a:r>
              <a:rPr sz="1300" b="0">
                <a:solidFill>
                  <a:srgbClr val="8A93A3"/>
                </a:solidFill>
                <a:latin typeface="Inter"/>
              </a:rPr>
              <a:t>Same mechanism for sanctions-partial: zero APPROVEs in 23 runs across seven models, so it fails closed and ships contested. The benchmark's job on these cases is to surface the disagreement, not to pick a winner. Given time, this queue becomes a real reviewer surface; the playground already prototypes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ANALYSIS · POPULATION</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A million-case simulation on measured kernels</a:t>
            </a:r>
          </a:p>
        </p:txBody>
      </p:sp>
      <p:pic>
        <p:nvPicPr>
          <p:cNvPr id="4" name="Picture 3" descr="population_sim.png"/>
          <p:cNvPicPr>
            <a:picLocks noChangeAspect="1"/>
          </p:cNvPicPr>
          <p:nvPr/>
        </p:nvPicPr>
        <p:blipFill>
          <a:blip r:embed="rId2"/>
          <a:stretch>
            <a:fillRect/>
          </a:stretch>
        </p:blipFill>
        <p:spPr>
          <a:xfrm>
            <a:off x="822960" y="1920240"/>
            <a:ext cx="6733309" cy="3291840"/>
          </a:xfrm>
          <a:prstGeom prst="rect">
            <a:avLst/>
          </a:prstGeom>
        </p:spPr>
      </p:pic>
      <p:sp>
        <p:nvSpPr>
          <p:cNvPr id="5" name="TextBox 4"/>
          <p:cNvSpPr txBox="1"/>
          <p:nvPr/>
        </p:nvSpPr>
        <p:spPr>
          <a:xfrm>
            <a:off x="822960" y="5577840"/>
            <a:ext cx="10515600" cy="914400"/>
          </a:xfrm>
          <a:prstGeom prst="rect">
            <a:avLst/>
          </a:prstGeom>
          <a:noFill/>
        </p:spPr>
        <p:txBody>
          <a:bodyPr wrap="square">
            <a:spAutoFit/>
          </a:bodyPr>
          <a:lstStyle/>
          <a:p>
            <a:pPr>
              <a:spcAft>
                <a:spcPts val="600"/>
              </a:spcAft>
            </a:pPr>
            <a:r>
              <a:rPr sz="1300" b="0">
                <a:solidFill>
                  <a:srgbClr val="8A93A3"/>
                </a:solidFill>
                <a:latin typeface="Inter"/>
              </a:rPr>
              <a:t>Behavior measured from the ledger; prevalence and exposure are named, swept assumptions. At 0.5% fraud, v1 costs $4,594/1k matrix-priced and $12,069/1k exposure-priced; rare large events dominate.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ADVERSARIAL REVIEWS, ANSWERED WITH RUNS</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The gate does not bend on deadline day</a:t>
            </a:r>
          </a:p>
        </p:txBody>
      </p:sp>
      <p:sp>
        <p:nvSpPr>
          <p:cNvPr id="4" name="TextBox 3"/>
          <p:cNvSpPr txBox="1"/>
          <p:nvPr/>
        </p:nvSpPr>
        <p:spPr>
          <a:xfrm>
            <a:off x="822960" y="2011680"/>
            <a:ext cx="10424160" cy="3840480"/>
          </a:xfrm>
          <a:prstGeom prst="rect">
            <a:avLst/>
          </a:prstGeom>
          <a:noFill/>
        </p:spPr>
        <p:txBody>
          <a:bodyPr wrap="square">
            <a:spAutoFit/>
          </a:bodyPr>
          <a:lstStyle/>
          <a:p>
            <a:pPr>
              <a:spcAft>
                <a:spcPts val="1600"/>
              </a:spcAft>
            </a:pPr>
            <a:r>
              <a:rPr sz="1600" b="1">
                <a:solidFill>
                  <a:srgbClr val="E8ECF4"/>
                </a:solidFill>
                <a:latin typeface="Inter"/>
              </a:rPr>
              <a:t>Refuted by probes: </a:t>
            </a:r>
            <a:r>
              <a:rPr sz="1600">
                <a:solidFill>
                  <a:srgbClr val="8A93A3"/>
                </a:solidFill>
                <a:latin typeface="Inter"/>
              </a:rPr>
              <a:t>precomputed-false is never exculpatory (4/4); the "you survive 108 by luck" perturbation HOLDs 4/4.</a:t>
            </a:r>
          </a:p>
          <a:p>
            <a:pPr>
              <a:spcAft>
                <a:spcPts val="1600"/>
              </a:spcAft>
            </a:pPr>
            <a:r>
              <a:rPr sz="1600" b="1">
                <a:solidFill>
                  <a:srgbClr val="E8ECF4"/>
                </a:solidFill>
                <a:latin typeface="Inter"/>
              </a:rPr>
              <a:t>Half right: </a:t>
            </a:r>
            <a:r>
              <a:rPr sz="1600">
                <a:solidFill>
                  <a:srgbClr val="8A93A3"/>
                </a:solidFill>
                <a:latin typeface="Inter"/>
              </a:rPr>
              <a:t>the sanctions middle case fails CLOSED, not open: zero APPROVEs in 23 runs across seven models; the verdict choice ships contested.</a:t>
            </a:r>
          </a:p>
          <a:p>
            <a:pPr>
              <a:spcAft>
                <a:spcPts val="1600"/>
              </a:spcAft>
            </a:pPr>
            <a:r>
              <a:rPr sz="1600" b="1">
                <a:solidFill>
                  <a:srgbClr val="E8ECF4"/>
                </a:solidFill>
                <a:latin typeface="Inter"/>
              </a:rPr>
              <a:t>v6, the injection line: </a:t>
            </a:r>
            <a:r>
              <a:rPr sz="1600">
                <a:solidFill>
                  <a:srgbClr val="8A93A3"/>
                </a:solidFill>
                <a:latin typeface="Inter"/>
              </a:rPr>
              <a:t>resists 19/20 where v5 sits at 5/9, and was rejected anyway: suite 11/12 against a pre-registered 12/12 bar. It ships as the tested next rung, not as the prompt.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PPDAC · CONCLUSION</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Ship v5 + gemini-flash, and say what that means</a:t>
            </a:r>
          </a:p>
        </p:txBody>
      </p:sp>
      <p:sp>
        <p:nvSpPr>
          <p:cNvPr id="4" name="TextBox 3"/>
          <p:cNvSpPr txBox="1"/>
          <p:nvPr/>
        </p:nvSpPr>
        <p:spPr>
          <a:xfrm>
            <a:off x="822960" y="2103120"/>
            <a:ext cx="10424160" cy="2926080"/>
          </a:xfrm>
          <a:prstGeom prst="rect">
            <a:avLst/>
          </a:prstGeom>
          <a:noFill/>
        </p:spPr>
        <p:txBody>
          <a:bodyPr wrap="square">
            <a:spAutoFit/>
          </a:bodyPr>
          <a:lstStyle/>
          <a:p>
            <a:pPr>
              <a:spcAft>
                <a:spcPts val="1400"/>
              </a:spcAft>
            </a:pPr>
            <a:r>
              <a:rPr sz="1500" b="1">
                <a:solidFill>
                  <a:srgbClr val="4ADE80"/>
                </a:solidFill>
                <a:latin typeface="Consolas"/>
              </a:rPr>
              <a:t>CERTIFIED     </a:t>
            </a:r>
            <a:r>
              <a:rPr sz="1600">
                <a:solidFill>
                  <a:srgbClr val="8A93A3"/>
                </a:solidFill>
                <a:latin typeface="Inter"/>
              </a:rPr>
              <a:t>gate recall 1.0 on every ranked cell; contract at floor everywhere ranked</a:t>
            </a:r>
          </a:p>
          <a:p>
            <a:pPr>
              <a:spcAft>
                <a:spcPts val="1400"/>
              </a:spcAft>
            </a:pPr>
            <a:r>
              <a:rPr sz="1500" b="1">
                <a:solidFill>
                  <a:srgbClr val="828FFF"/>
                </a:solidFill>
                <a:latin typeface="Consolas"/>
              </a:rPr>
              <a:t>SUGGESTED     </a:t>
            </a:r>
            <a:r>
              <a:rPr sz="1600">
                <a:solidFill>
                  <a:srgbClr val="8A93A3"/>
                </a:solidFill>
                <a:latin typeface="Inter"/>
              </a:rPr>
              <a:t>12/12 with Wilson floor 74%; holdout n=3; the ladder's edge at ~3:1 posterior odds</a:t>
            </a:r>
          </a:p>
          <a:p>
            <a:pPr>
              <a:spcAft>
                <a:spcPts val="1400"/>
              </a:spcAft>
            </a:pPr>
            <a:r>
              <a:rPr sz="1500" b="1">
                <a:solidFill>
                  <a:srgbClr val="F87171"/>
                </a:solidFill>
                <a:latin typeface="Consolas"/>
              </a:rPr>
              <a:t>DECORATIVE    </a:t>
            </a:r>
            <a:r>
              <a:rPr sz="1600">
                <a:solidFill>
                  <a:srgbClr val="8A93A3"/>
                </a:solidFill>
                <a:latin typeface="Inter"/>
              </a:rPr>
              <a:t>verbalized confidence; flash-as-judge</a:t>
            </a:r>
          </a:p>
        </p:txBody>
      </p:sp>
      <p:sp>
        <p:nvSpPr>
          <p:cNvPr id="5" name="TextBox 4"/>
          <p:cNvSpPr txBox="1"/>
          <p:nvPr/>
        </p:nvSpPr>
        <p:spPr>
          <a:xfrm>
            <a:off x="822960" y="5212080"/>
            <a:ext cx="10515600" cy="914400"/>
          </a:xfrm>
          <a:prstGeom prst="rect">
            <a:avLst/>
          </a:prstGeom>
          <a:noFill/>
        </p:spPr>
        <p:txBody>
          <a:bodyPr wrap="square">
            <a:spAutoFit/>
          </a:bodyPr>
          <a:lstStyle/>
          <a:p>
            <a:pPr>
              <a:spcAft>
                <a:spcPts val="600"/>
              </a:spcAft>
            </a:pPr>
            <a:r>
              <a:rPr sz="1300" b="0">
                <a:solidFill>
                  <a:srgbClr val="8A93A3"/>
                </a:solidFill>
                <a:latin typeface="Inter"/>
              </a:rPr>
              <a:t>Every number triggers an action or it is just reporting: gates green = ship; flip or contested split = hold and route to a human; tripwire = roll back. The $0 is a point estimate; n=12 cannot rule out ~$530k/1k worst-class. The gates carry the claim.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THE BOUNDARY, DRAWN ON PURPOSE</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Out of scope, and what I'd do next given time</a:t>
            </a:r>
          </a:p>
        </p:txBody>
      </p:sp>
      <p:sp>
        <p:nvSpPr>
          <p:cNvPr id="4" name="TextBox 3"/>
          <p:cNvSpPr txBox="1"/>
          <p:nvPr/>
        </p:nvSpPr>
        <p:spPr>
          <a:xfrm>
            <a:off x="822960" y="1828800"/>
            <a:ext cx="5303520" cy="4389120"/>
          </a:xfrm>
          <a:prstGeom prst="rect">
            <a:avLst/>
          </a:prstGeom>
          <a:noFill/>
        </p:spPr>
        <p:txBody>
          <a:bodyPr wrap="square">
            <a:spAutoFit/>
          </a:bodyPr>
          <a:lstStyle/>
          <a:p>
            <a:pPr>
              <a:spcAft>
                <a:spcPts val="1000"/>
              </a:spcAft>
            </a:pPr>
            <a:r>
              <a:rPr sz="1200" b="1">
                <a:solidFill>
                  <a:srgbClr val="828FFF"/>
                </a:solidFill>
                <a:latin typeface="Inter"/>
              </a:rPr>
              <a:t>DELIBERATELY OUT OF SCOPE</a:t>
            </a:r>
          </a:p>
          <a:p>
            <a:pPr>
              <a:spcAft>
                <a:spcPts val="800"/>
              </a:spcAft>
            </a:pPr>
            <a:r>
              <a:rPr sz="1200" b="1">
                <a:solidFill>
                  <a:srgbClr val="E8ECF4"/>
                </a:solidFill>
                <a:latin typeface="Inter"/>
              </a:rPr>
              <a:t>Tools and skills: </a:t>
            </a:r>
            <a:r>
              <a:rPr sz="1200">
                <a:solidFill>
                  <a:srgbClr val="8A93A3"/>
                </a:solidFill>
                <a:latin typeface="Inter"/>
              </a:rPr>
              <a:t>the agent decides from the dossier alone; no function calling, no retrieval. Tools change the eval surface, so they get their own arm, not a patch.</a:t>
            </a:r>
          </a:p>
          <a:p>
            <a:pPr>
              <a:spcAft>
                <a:spcPts val="800"/>
              </a:spcAft>
            </a:pPr>
            <a:r>
              <a:rPr sz="1200" b="1">
                <a:solidFill>
                  <a:srgbClr val="E8ECF4"/>
                </a:solidFill>
                <a:latin typeface="Inter"/>
              </a:rPr>
              <a:t>MCP integrations: </a:t>
            </a:r>
            <a:r>
              <a:rPr sz="1200">
                <a:solidFill>
                  <a:srgbClr val="8A93A3"/>
                </a:solidFill>
                <a:latin typeface="Inter"/>
              </a:rPr>
              <a:t>no external context servers; every input is the frozen case file, which keeps runs reproducible.</a:t>
            </a:r>
          </a:p>
          <a:p>
            <a:pPr>
              <a:spcAft>
                <a:spcPts val="800"/>
              </a:spcAft>
            </a:pPr>
            <a:r>
              <a:rPr sz="1200" b="1">
                <a:solidFill>
                  <a:srgbClr val="E8ECF4"/>
                </a:solidFill>
                <a:latin typeface="Inter"/>
              </a:rPr>
              <a:t>CLI vs API surfaces: </a:t>
            </a:r>
            <a:r>
              <a:rPr sz="1200">
                <a:solidFill>
                  <a:srgbClr val="8A93A3"/>
                </a:solidFill>
                <a:latin typeface="Inter"/>
              </a:rPr>
              <a:t>claude columns ride the subscription CLI (no sampler control, stated); the API/SDK rerun is specced, blocked only on a key.</a:t>
            </a:r>
          </a:p>
          <a:p>
            <a:pPr>
              <a:spcAft>
                <a:spcPts val="800"/>
              </a:spcAft>
            </a:pPr>
            <a:r>
              <a:rPr sz="1200" b="1">
                <a:solidFill>
                  <a:srgbClr val="E8ECF4"/>
                </a:solidFill>
                <a:latin typeface="Inter"/>
              </a:rPr>
              <a:t>Memory attached to models: </a:t>
            </a:r>
            <a:r>
              <a:rPr sz="1200">
                <a:solidFill>
                  <a:srgbClr val="8A93A3"/>
                </a:solidFill>
                <a:latin typeface="Inter"/>
              </a:rPr>
              <a:t>every run is stateless by design; a remembering agent cannot be measured by repeats, and repeats are the method.</a:t>
            </a:r>
          </a:p>
          <a:p>
            <a:pPr>
              <a:spcAft>
                <a:spcPts val="800"/>
              </a:spcAft>
            </a:pPr>
            <a:r>
              <a:rPr sz="1200" b="1">
                <a:solidFill>
                  <a:srgbClr val="E8ECF4"/>
                </a:solidFill>
                <a:latin typeface="Inter"/>
              </a:rPr>
              <a:t>Fine-tuning: </a:t>
            </a:r>
            <a:r>
              <a:rPr sz="1200">
                <a:solidFill>
                  <a:srgbClr val="8A93A3"/>
                </a:solidFill>
                <a:latin typeface="Inter"/>
              </a:rPr>
              <a:t>the prompt is the only movable part, on purpose.</a:t>
            </a:r>
          </a:p>
        </p:txBody>
      </p:sp>
      <p:sp>
        <p:nvSpPr>
          <p:cNvPr id="5" name="TextBox 4"/>
          <p:cNvSpPr txBox="1"/>
          <p:nvPr/>
        </p:nvSpPr>
        <p:spPr>
          <a:xfrm>
            <a:off x="6492240" y="1828800"/>
            <a:ext cx="4846320" cy="4389120"/>
          </a:xfrm>
          <a:prstGeom prst="rect">
            <a:avLst/>
          </a:prstGeom>
          <a:noFill/>
        </p:spPr>
        <p:txBody>
          <a:bodyPr wrap="square">
            <a:spAutoFit/>
          </a:bodyPr>
          <a:lstStyle/>
          <a:p>
            <a:pPr>
              <a:spcAft>
                <a:spcPts val="1000"/>
              </a:spcAft>
            </a:pPr>
            <a:r>
              <a:rPr sz="1200" b="1">
                <a:solidFill>
                  <a:srgbClr val="CFA36C"/>
                </a:solidFill>
                <a:latin typeface="Inter"/>
              </a:rPr>
              <a:t>NEXT, GIVEN TIME, IN ORDER</a:t>
            </a:r>
          </a:p>
          <a:p>
            <a:pPr>
              <a:spcAft>
                <a:spcPts val="1000"/>
              </a:spcAft>
            </a:pPr>
            <a:r>
              <a:rPr sz="1300">
                <a:solidFill>
                  <a:srgbClr val="8A93A3"/>
                </a:solidFill>
                <a:latin typeface="Inter"/>
              </a:rPr>
              <a:t>1.  More expert labels: the hard blocker; SPRT already says how many are needed.</a:t>
            </a:r>
          </a:p>
          <a:p>
            <a:pPr>
              <a:spcAft>
                <a:spcPts val="1000"/>
              </a:spcAft>
            </a:pPr>
            <a:r>
              <a:rPr sz="1300">
                <a:solidFill>
                  <a:srgbClr val="8A93A3"/>
                </a:solidFill>
                <a:latin typeface="Inter"/>
              </a:rPr>
              <a:t>2.  The v6 injection line through the full gate.</a:t>
            </a:r>
          </a:p>
          <a:p>
            <a:pPr>
              <a:spcAft>
                <a:spcPts val="1000"/>
              </a:spcAft>
            </a:pPr>
            <a:r>
              <a:rPr sz="1300">
                <a:solidFill>
                  <a:srgbClr val="8A93A3"/>
                </a:solidFill>
                <a:latin typeface="Inter"/>
              </a:rPr>
              <a:t>3.  API rerun of the claude columns with temperature control.</a:t>
            </a:r>
          </a:p>
          <a:p>
            <a:pPr>
              <a:spcAft>
                <a:spcPts val="1000"/>
              </a:spcAft>
            </a:pPr>
            <a:r>
              <a:rPr sz="1300">
                <a:solidFill>
                  <a:srgbClr val="8A93A3"/>
                </a:solidFill>
                <a:latin typeface="Inter"/>
              </a:rPr>
              <a:t>4.  The adjudication queue wired to a real reviewer; the playground already prototypes it.</a:t>
            </a:r>
          </a:p>
          <a:p>
            <a:pPr>
              <a:spcAft>
                <a:spcPts val="1000"/>
              </a:spcAft>
            </a:pPr>
            <a:r>
              <a:rPr sz="1300">
                <a:solidFill>
                  <a:srgbClr val="8A93A3"/>
                </a:solidFill>
                <a:latin typeface="Inter"/>
              </a:rPr>
              <a:t>5.  A tool-augmented variant as a new benchmark arm.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90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none">
            <a:spAutoFit/>
          </a:bodyPr>
          <a:lstStyle/>
          <a:p>
            <a:pPr>
              <a:spcAft>
                <a:spcPts val="600"/>
              </a:spcAft>
            </a:pPr>
            <a:r>
              <a:rPr sz="1200" b="1">
                <a:solidFill>
                  <a:srgbClr val="828FFF"/>
                </a:solidFill>
                <a:latin typeface="Inter"/>
              </a:rPr>
              <a:t>IF THIS SHIPPED MONDAY</a:t>
            </a:r>
          </a:p>
        </p:txBody>
      </p:sp>
      <p:sp>
        <p:nvSpPr>
          <p:cNvPr id="3" name="TextBox 2"/>
          <p:cNvSpPr txBox="1"/>
          <p:nvPr/>
        </p:nvSpPr>
        <p:spPr>
          <a:xfrm>
            <a:off x="822960" y="914400"/>
            <a:ext cx="10515600" cy="914400"/>
          </a:xfrm>
          <a:prstGeom prst="rect">
            <a:avLst/>
          </a:prstGeom>
          <a:noFill/>
        </p:spPr>
        <p:txBody>
          <a:bodyPr wrap="none">
            <a:spAutoFit/>
          </a:bodyPr>
          <a:lstStyle/>
          <a:p>
            <a:pPr>
              <a:spcAft>
                <a:spcPts val="600"/>
              </a:spcAft>
            </a:pPr>
            <a:r>
              <a:rPr sz="3300" b="1">
                <a:solidFill>
                  <a:srgbClr val="E8ECF4"/>
                </a:solidFill>
                <a:latin typeface="Inter"/>
              </a:rPr>
              <a:t>What breaks, in order</a:t>
            </a:r>
          </a:p>
        </p:txBody>
      </p:sp>
      <p:sp>
        <p:nvSpPr>
          <p:cNvPr id="4" name="TextBox 3"/>
          <p:cNvSpPr txBox="1"/>
          <p:nvPr/>
        </p:nvSpPr>
        <p:spPr>
          <a:xfrm>
            <a:off x="822960" y="2011680"/>
            <a:ext cx="10424160" cy="3474720"/>
          </a:xfrm>
          <a:prstGeom prst="rect">
            <a:avLst/>
          </a:prstGeom>
          <a:noFill/>
        </p:spPr>
        <p:txBody>
          <a:bodyPr wrap="square">
            <a:spAutoFit/>
          </a:bodyPr>
          <a:lstStyle/>
          <a:p>
            <a:pPr>
              <a:spcAft>
                <a:spcPts val="1200"/>
              </a:spcAft>
            </a:pPr>
            <a:r>
              <a:rPr sz="1600">
                <a:solidFill>
                  <a:srgbClr val="8A93A3"/>
                </a:solidFill>
                <a:latin typeface="Inter"/>
              </a:rPr>
              <a:t>1.  Four real labels cannot certify a production prompt: more expert labels is the hard blocker.</a:t>
            </a:r>
          </a:p>
          <a:p>
            <a:pPr>
              <a:spcAft>
                <a:spcPts val="1200"/>
              </a:spcAft>
            </a:pPr>
            <a:r>
              <a:rPr sz="1600">
                <a:solidFill>
                  <a:srgbClr val="8A93A3"/>
                </a:solidFill>
                <a:latin typeface="Inter"/>
              </a:rPr>
              <a:t>2.  Pin the prompt AND the model: the pairing is what was verified.</a:t>
            </a:r>
          </a:p>
          <a:p>
            <a:pPr>
              <a:spcAft>
                <a:spcPts val="1200"/>
              </a:spcAft>
            </a:pPr>
            <a:r>
              <a:rPr sz="1600">
                <a:solidFill>
                  <a:srgbClr val="8A93A3"/>
                </a:solidFill>
                <a:latin typeface="Inter"/>
              </a:rPr>
              <a:t>3.  Injection is not solved by any shipped rung; the tested v6 line is next.</a:t>
            </a:r>
          </a:p>
          <a:p>
            <a:pPr>
              <a:spcAft>
                <a:spcPts val="1200"/>
              </a:spcAft>
            </a:pPr>
            <a:r>
              <a:rPr sz="1600">
                <a:solidFill>
                  <a:srgbClr val="8A93A3"/>
                </a:solidFill>
                <a:latin typeface="Inter"/>
              </a:rPr>
              <a:t>4.  Confidence gating must use vote fraction, never stated confidence.</a:t>
            </a:r>
          </a:p>
          <a:p>
            <a:pPr>
              <a:spcAft>
                <a:spcPts val="1200"/>
              </a:spcAft>
            </a:pPr>
            <a:r>
              <a:rPr sz="1600">
                <a:solidFill>
                  <a:srgbClr val="8A93A3"/>
                </a:solidFill>
                <a:latin typeface="Inter"/>
              </a:rPr>
              <a:t>5.  The contested case families need a policy-owner decision, and the queue collects it.</a:t>
            </a:r>
          </a:p>
        </p:txBody>
      </p:sp>
      <p:sp>
        <p:nvSpPr>
          <p:cNvPr id="5" name="TextBox 4"/>
          <p:cNvSpPr txBox="1"/>
          <p:nvPr/>
        </p:nvSpPr>
        <p:spPr>
          <a:xfrm>
            <a:off x="822960" y="5760720"/>
            <a:ext cx="10515600" cy="914400"/>
          </a:xfrm>
          <a:prstGeom prst="rect">
            <a:avLst/>
          </a:prstGeom>
          <a:noFill/>
        </p:spPr>
        <p:txBody>
          <a:bodyPr wrap="square">
            <a:spAutoFit/>
          </a:bodyPr>
          <a:lstStyle/>
          <a:p>
            <a:pPr>
              <a:spcAft>
                <a:spcPts val="600"/>
              </a:spcAft>
            </a:pPr>
            <a:r>
              <a:rPr sz="1300" b="0">
                <a:solidFill>
                  <a:srgbClr val="5C6678"/>
                </a:solidFill>
                <a:latin typeface="Inter"/>
              </a:rPr>
              <a:t>verdict-bench.pages.dev   ·   github.com/ShovalBenjer/verdict-bench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